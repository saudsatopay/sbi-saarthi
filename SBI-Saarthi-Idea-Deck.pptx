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63040" y="1737360"/>
            <a:ext cx="11887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0" dirty="0">
                <a:solidFill>
                  <a:srgbClr val="0E1521"/>
                </a:solidFill>
                <a:latin typeface="Bahnschrift SemiBold Condensed" pitchFamily="34" charset="0"/>
                <a:ea typeface="Bahnschrift SemiBold Condensed" pitchFamily="34" charset="-122"/>
                <a:cs typeface="Bahnschrift SemiBold Condensed" pitchFamily="34" charset="-120"/>
              </a:rPr>
              <a:t>Saarthi</a:t>
            </a:r>
            <a:endParaRPr lang="en-US" sz="23000" dirty="0"/>
          </a:p>
        </p:txBody>
      </p:sp>
      <p:sp>
        <p:nvSpPr>
          <p:cNvPr id="3" name="Shape 1"/>
          <p:cNvSpPr/>
          <p:nvPr/>
        </p:nvSpPr>
        <p:spPr>
          <a:xfrm>
            <a:off x="-2103120" y="-2377440"/>
            <a:ext cx="6217920" cy="6217920"/>
          </a:xfrm>
          <a:prstGeom prst="ellipse">
            <a:avLst/>
          </a:prstGeom>
          <a:solidFill>
            <a:srgbClr val="F6B53D">
              <a:alpha val="9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686800" y="3108960"/>
            <a:ext cx="6217920" cy="6217920"/>
          </a:xfrm>
          <a:prstGeom prst="ellipse">
            <a:avLst/>
          </a:prstGeom>
          <a:solidFill>
            <a:srgbClr val="37D6C3">
              <a:alpha val="7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2700000">
            <a:off x="630936" y="758952"/>
            <a:ext cx="164592" cy="164592"/>
          </a:xfrm>
          <a:prstGeom prst="rect">
            <a:avLst/>
          </a:prstGeom>
          <a:solidFill>
            <a:srgbClr val="F6B53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67665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SBI HACKATHON   ·   GLOBAL FINTECH FEST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201168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4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SBI </a:t>
            </a:r>
            <a:pPr algn="l" indent="0" marL="0">
              <a:buNone/>
            </a:pPr>
            <a:r>
              <a:rPr lang="en-US" sz="104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Saarthi</a:t>
            </a:r>
            <a:endParaRPr lang="en-US" sz="10400" dirty="0"/>
          </a:p>
        </p:txBody>
      </p:sp>
      <p:sp>
        <p:nvSpPr>
          <p:cNvPr id="8" name="Text 6"/>
          <p:cNvSpPr/>
          <p:nvPr/>
        </p:nvSpPr>
        <p:spPr>
          <a:xfrm>
            <a:off x="566928" y="36576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EF1F6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An Agentic AI Engagement Concierge for every customer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66928" y="422452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6B5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“Your bank, one step ahead.”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66928" y="5074920"/>
            <a:ext cx="3383280" cy="768096"/>
          </a:xfrm>
          <a:prstGeom prst="roundRect">
            <a:avLst>
              <a:gd name="adj" fmla="val 10714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520293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THEME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" y="543153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Agentic AI &amp; Emerging Tech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34256" y="5074920"/>
            <a:ext cx="3383280" cy="768096"/>
          </a:xfrm>
          <a:prstGeom prst="roundRect">
            <a:avLst>
              <a:gd name="adj" fmla="val 10714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0" y="520293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PROBLEM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0" y="543153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Digital Engagement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01584" y="5074920"/>
            <a:ext cx="3383280" cy="768096"/>
          </a:xfrm>
          <a:prstGeom prst="roundRect">
            <a:avLst>
              <a:gd name="adj" fmla="val 10714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39328" y="520293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TEAM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39328" y="543153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SAS CODIES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66928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SAUD SATOPAY    ·    ARYAN WALUNJ    ·    SAHIL ADDAGATLA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589788" y="589788"/>
            <a:ext cx="137160" cy="137160"/>
          </a:xfrm>
          <a:prstGeom prst="rect">
            <a:avLst/>
          </a:prstGeom>
          <a:solidFill>
            <a:srgbClr val="F6B5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754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 — THE PROBLEM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Bank engagement is broken in </a:t>
            </a:r>
            <a:pPr algn="l" indent="0" marL="0">
              <a:buNone/>
            </a:pPr>
            <a:r>
              <a:rPr lang="en-US" sz="41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three ways.</a:t>
            </a:r>
            <a:endParaRPr lang="en-US" sz="4100" dirty="0"/>
          </a:p>
        </p:txBody>
      </p:sp>
      <p:sp>
        <p:nvSpPr>
          <p:cNvPr id="5" name="Shape 3"/>
          <p:cNvSpPr/>
          <p:nvPr/>
        </p:nvSpPr>
        <p:spPr>
          <a:xfrm>
            <a:off x="566928" y="2468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724912"/>
            <a:ext cx="146304" cy="146304"/>
          </a:xfrm>
          <a:prstGeom prst="ellipse">
            <a:avLst/>
          </a:prstGeom>
          <a:solidFill>
            <a:srgbClr val="37D6C3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" y="29626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Reactive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859536" y="3529584"/>
            <a:ext cx="29535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waits for the customer to open the app. Most never do beyond a balance check.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98264" y="2468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90872" y="2724912"/>
            <a:ext cx="146304" cy="146304"/>
          </a:xfrm>
          <a:prstGeom prst="ellipse">
            <a:avLst/>
          </a:prstGeom>
          <a:solidFill>
            <a:srgbClr val="FF7A8A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9626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Generic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690872" y="3529584"/>
            <a:ext cx="29535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Broadcast SMS and push to everyone — notification blindness, low CTR, opt-outs.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522208" y="2724912"/>
            <a:ext cx="146304" cy="146304"/>
          </a:xfrm>
          <a:prstGeom prst="ellipse">
            <a:avLst/>
          </a:prstGeom>
          <a:solidFill>
            <a:srgbClr val="6E8BFF"/>
          </a:solidFill>
          <a:ln/>
        </p:spPr>
      </p:sp>
      <p:sp>
        <p:nvSpPr>
          <p:cNvPr id="15" name="Text 13"/>
          <p:cNvSpPr/>
          <p:nvPr/>
        </p:nvSpPr>
        <p:spPr>
          <a:xfrm>
            <a:off x="8522208" y="29626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Unactionable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8522208" y="3529584"/>
            <a:ext cx="29535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tells you something, then leaves the work to you. The loop never closes.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5029200"/>
            <a:ext cx="11055096" cy="1097280"/>
          </a:xfrm>
          <a:prstGeom prst="roundRect">
            <a:avLst>
              <a:gd name="adj" fmla="val 7500"/>
            </a:avLst>
          </a:prstGeom>
          <a:solidFill>
            <a:srgbClr val="0B0F17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78408" y="502920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6B5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~50 crore</a:t>
            </a:r>
            <a:pPr indent="0" marL="0">
              <a:buNone/>
            </a:pPr>
            <a:r>
              <a:rPr lang="en-US" sz="2000" dirty="0">
                <a:solidFill>
                  <a:srgbClr val="EEF1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customers.   A human relationship manager exists for the top  </a:t>
            </a:r>
            <a:pPr indent="0" marL="0">
              <a:buNone/>
            </a:pPr>
            <a:r>
              <a:rPr lang="en-US" sz="2000" b="1" dirty="0">
                <a:solidFill>
                  <a:srgbClr val="37D6C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1%</a:t>
            </a:r>
            <a:pPr indent="0" marL="0">
              <a:buNone/>
            </a:pPr>
            <a:r>
              <a:rPr lang="en-US" sz="2000" dirty="0">
                <a:solidFill>
                  <a:srgbClr val="EEF1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only.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SBI SAARTHI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795967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589788" y="589788"/>
            <a:ext cx="137160" cy="137160"/>
          </a:xfrm>
          <a:prstGeom prst="rect">
            <a:avLst/>
          </a:prstGeom>
          <a:solidFill>
            <a:srgbClr val="F6B5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754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 — THE INSIGHT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46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Real engagement is reaching the </a:t>
            </a:r>
            <a:pPr indent="0" marL="0">
              <a:lnSpc>
                <a:spcPct val="108000"/>
              </a:lnSpc>
              <a:buNone/>
            </a:pPr>
            <a:r>
              <a:rPr lang="en-US" sz="46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right customer</a:t>
            </a:r>
            <a:pPr indent="0" marL="0">
              <a:lnSpc>
                <a:spcPct val="108000"/>
              </a:lnSpc>
              <a:buNone/>
            </a:pPr>
            <a:r>
              <a:rPr lang="en-US" sz="46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, at the </a:t>
            </a:r>
            <a:pPr indent="0" marL="0">
              <a:lnSpc>
                <a:spcPct val="108000"/>
              </a:lnSpc>
              <a:buNone/>
            </a:pPr>
            <a:r>
              <a:rPr lang="en-US" sz="4600" dirty="0">
                <a:solidFill>
                  <a:srgbClr val="37D6C3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right moment</a:t>
            </a:r>
            <a:pPr indent="0" marL="0">
              <a:lnSpc>
                <a:spcPct val="108000"/>
              </a:lnSpc>
              <a:buNone/>
            </a:pPr>
            <a:r>
              <a:rPr lang="en-US" sz="46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, in their </a:t>
            </a:r>
            <a:pPr indent="0" marL="0">
              <a:lnSpc>
                <a:spcPct val="108000"/>
              </a:lnSpc>
              <a:buNone/>
            </a:pPr>
            <a:r>
              <a:rPr lang="en-US" sz="4600" dirty="0">
                <a:solidFill>
                  <a:srgbClr val="6E8B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own language</a:t>
            </a:r>
            <a:pPr indent="0" marL="0">
              <a:lnSpc>
                <a:spcPct val="108000"/>
              </a:lnSpc>
              <a:buNone/>
            </a:pPr>
            <a:r>
              <a:rPr lang="en-US" sz="46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 — and doing the action </a:t>
            </a:r>
            <a:pPr indent="0" marL="0">
              <a:lnSpc>
                <a:spcPct val="108000"/>
              </a:lnSpc>
              <a:buNone/>
            </a:pPr>
            <a:r>
              <a:rPr lang="en-US" sz="46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for them.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66928" y="5120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That needs autonomy, reasoning, tool-use and guardrails — an agent crew, not a chatbot.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SBI SAARTHI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795967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589788" y="589788"/>
            <a:ext cx="137160" cy="137160"/>
          </a:xfrm>
          <a:prstGeom prst="rect">
            <a:avLst/>
          </a:prstGeom>
          <a:solidFill>
            <a:srgbClr val="F6B5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754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 — THE SOLUTION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Meet Saarthi. </a:t>
            </a:r>
            <a:pPr algn="l" indent="0" marL="0">
              <a:buNone/>
            </a:pPr>
            <a:r>
              <a:rPr lang="en-US" sz="41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Six abilities, one crew.</a:t>
            </a:r>
            <a:endParaRPr lang="en-US" sz="4100" dirty="0"/>
          </a:p>
        </p:txBody>
      </p:sp>
      <p:sp>
        <p:nvSpPr>
          <p:cNvPr id="5" name="Shape 3"/>
          <p:cNvSpPr/>
          <p:nvPr/>
        </p:nvSpPr>
        <p:spPr>
          <a:xfrm>
            <a:off x="566928" y="2240280"/>
            <a:ext cx="3489960" cy="1755648"/>
          </a:xfrm>
          <a:prstGeom prst="roundRect">
            <a:avLst>
              <a:gd name="adj" fmla="val 4688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532888"/>
            <a:ext cx="146304" cy="146304"/>
          </a:xfrm>
          <a:prstGeom prst="ellipse">
            <a:avLst/>
          </a:prstGeom>
          <a:solidFill>
            <a:srgbClr val="37D6C3"/>
          </a:solidFill>
          <a:ln/>
        </p:spPr>
      </p:sp>
      <p:sp>
        <p:nvSpPr>
          <p:cNvPr id="7" name="Text 5"/>
          <p:cNvSpPr/>
          <p:nvPr/>
        </p:nvSpPr>
        <p:spPr>
          <a:xfrm>
            <a:off x="3188208" y="24414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770632"/>
            <a:ext cx="2941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Sense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41248" y="3227832"/>
            <a:ext cx="2977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Detects money-moments in real-time event streams.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9496" y="2240280"/>
            <a:ext cx="3489960" cy="1755648"/>
          </a:xfrm>
          <a:prstGeom prst="roundRect">
            <a:avLst>
              <a:gd name="adj" fmla="val 4688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3816" y="2532888"/>
            <a:ext cx="146304" cy="146304"/>
          </a:xfrm>
          <a:prstGeom prst="ellipse">
            <a:avLst/>
          </a:prstGeom>
          <a:solidFill>
            <a:srgbClr val="A6E22E"/>
          </a:solidFill>
          <a:ln/>
        </p:spPr>
      </p:sp>
      <p:sp>
        <p:nvSpPr>
          <p:cNvPr id="12" name="Text 10"/>
          <p:cNvSpPr/>
          <p:nvPr/>
        </p:nvSpPr>
        <p:spPr>
          <a:xfrm>
            <a:off x="6970776" y="24414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23816" y="2770632"/>
            <a:ext cx="2941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Reason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623816" y="3227832"/>
            <a:ext cx="2977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propensity &amp; next-best-action per customer.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32064" y="2240280"/>
            <a:ext cx="3489960" cy="1755648"/>
          </a:xfrm>
          <a:prstGeom prst="roundRect">
            <a:avLst>
              <a:gd name="adj" fmla="val 4688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06384" y="2532888"/>
            <a:ext cx="146304" cy="146304"/>
          </a:xfrm>
          <a:prstGeom prst="ellipse">
            <a:avLst/>
          </a:prstGeom>
          <a:solidFill>
            <a:srgbClr val="FF7A8A"/>
          </a:solidFill>
          <a:ln/>
        </p:spPr>
      </p:sp>
      <p:sp>
        <p:nvSpPr>
          <p:cNvPr id="17" name="Text 15"/>
          <p:cNvSpPr/>
          <p:nvPr/>
        </p:nvSpPr>
        <p:spPr>
          <a:xfrm>
            <a:off x="10753344" y="24414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06384" y="2770632"/>
            <a:ext cx="2941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Personalise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406384" y="3227832"/>
            <a:ext cx="2977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Picks language, channel and the right moment.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4270248"/>
            <a:ext cx="3489960" cy="1755648"/>
          </a:xfrm>
          <a:prstGeom prst="roundRect">
            <a:avLst>
              <a:gd name="adj" fmla="val 4688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4562856"/>
            <a:ext cx="146304" cy="146304"/>
          </a:xfrm>
          <a:prstGeom prst="ellipse">
            <a:avLst/>
          </a:prstGeom>
          <a:solidFill>
            <a:srgbClr val="F6B53D"/>
          </a:solidFill>
          <a:ln/>
        </p:spPr>
      </p:sp>
      <p:sp>
        <p:nvSpPr>
          <p:cNvPr id="22" name="Text 20"/>
          <p:cNvSpPr/>
          <p:nvPr/>
        </p:nvSpPr>
        <p:spPr>
          <a:xfrm>
            <a:off x="3188208" y="447141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" y="4800600"/>
            <a:ext cx="2941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Act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841248" y="5257800"/>
            <a:ext cx="2977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tap executes the outcome on banking APIs.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349496" y="4270248"/>
            <a:ext cx="3489960" cy="1755648"/>
          </a:xfrm>
          <a:prstGeom prst="roundRect">
            <a:avLst>
              <a:gd name="adj" fmla="val 4688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23816" y="4562856"/>
            <a:ext cx="146304" cy="146304"/>
          </a:xfrm>
          <a:prstGeom prst="ellipse">
            <a:avLst/>
          </a:prstGeom>
          <a:solidFill>
            <a:srgbClr val="5FE0A8"/>
          </a:solidFill>
          <a:ln/>
        </p:spPr>
      </p:sp>
      <p:sp>
        <p:nvSpPr>
          <p:cNvPr id="27" name="Text 25"/>
          <p:cNvSpPr/>
          <p:nvPr/>
        </p:nvSpPr>
        <p:spPr>
          <a:xfrm>
            <a:off x="6970776" y="447141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23816" y="4800600"/>
            <a:ext cx="2941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Guard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4623816" y="5257800"/>
            <a:ext cx="2977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Consent, suitability, anti-spam &amp; scam checks.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132064" y="4270248"/>
            <a:ext cx="3489960" cy="1755648"/>
          </a:xfrm>
          <a:prstGeom prst="roundRect">
            <a:avLst>
              <a:gd name="adj" fmla="val 4688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06384" y="4562856"/>
            <a:ext cx="146304" cy="146304"/>
          </a:xfrm>
          <a:prstGeom prst="ellipse">
            <a:avLst/>
          </a:prstGeom>
          <a:solidFill>
            <a:srgbClr val="6E8B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753344" y="447141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406384" y="4800600"/>
            <a:ext cx="2941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Learn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8406384" y="5257800"/>
            <a:ext cx="2977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outcome retrains timing and offers.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66928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SBI SAARTHI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795967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589788" y="589788"/>
            <a:ext cx="137160" cy="137160"/>
          </a:xfrm>
          <a:prstGeom prst="rect">
            <a:avLst/>
          </a:prstGeom>
          <a:solidFill>
            <a:srgbClr val="F6B5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754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04 — THE CREW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 crew, not a </a:t>
            </a:r>
            <a:pPr algn="l" indent="0" marL="0">
              <a:buNone/>
            </a:pPr>
            <a:r>
              <a:rPr lang="en-US" sz="41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chatbot.</a:t>
            </a:r>
            <a:endParaRPr lang="en-US" sz="4100" dirty="0"/>
          </a:p>
        </p:txBody>
      </p:sp>
      <p:sp>
        <p:nvSpPr>
          <p:cNvPr id="5" name="Shape 3"/>
          <p:cNvSpPr/>
          <p:nvPr/>
        </p:nvSpPr>
        <p:spPr>
          <a:xfrm>
            <a:off x="566928" y="2468880"/>
            <a:ext cx="2286000" cy="2743200"/>
          </a:xfrm>
          <a:prstGeom prst="roundRect">
            <a:avLst>
              <a:gd name="adj" fmla="val 3600"/>
            </a:avLst>
          </a:prstGeom>
          <a:solidFill>
            <a:srgbClr val="0E1420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724912"/>
            <a:ext cx="128016" cy="128016"/>
          </a:xfrm>
          <a:prstGeom prst="ellipse">
            <a:avLst/>
          </a:prstGeom>
          <a:solidFill>
            <a:srgbClr val="9AA3B5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263347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Signals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04672" y="3035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real-time events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4672" y="3520440"/>
            <a:ext cx="1874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balances · bills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&amp; life events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871216" y="365760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6A7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236976" y="2468880"/>
            <a:ext cx="2286000" cy="2743200"/>
          </a:xfrm>
          <a:prstGeom prst="roundRect">
            <a:avLst>
              <a:gd name="adj" fmla="val 3600"/>
            </a:avLst>
          </a:prstGeom>
          <a:solidFill>
            <a:srgbClr val="0E1420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74720" y="2724912"/>
            <a:ext cx="128016" cy="128016"/>
          </a:xfrm>
          <a:prstGeom prst="ellipse">
            <a:avLst/>
          </a:prstGeom>
          <a:solidFill>
            <a:srgbClr val="37D6C3"/>
          </a:solidFill>
          <a:ln/>
        </p:spPr>
      </p:sp>
      <p:sp>
        <p:nvSpPr>
          <p:cNvPr id="13" name="Text 11"/>
          <p:cNvSpPr/>
          <p:nvPr/>
        </p:nvSpPr>
        <p:spPr>
          <a:xfrm>
            <a:off x="3694176" y="263347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Sense + Plan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474720" y="3035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sensor → orchestrator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74720" y="3520440"/>
            <a:ext cx="1874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37D6C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 Agent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6B5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6E8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Memory · Learning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541264" y="365760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6A7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907024" y="246888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0E1420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44768" y="2724912"/>
            <a:ext cx="128016" cy="128016"/>
          </a:xfrm>
          <a:prstGeom prst="ellipse">
            <a:avLst/>
          </a:prstGeom>
          <a:solidFill>
            <a:srgbClr val="A6E22E"/>
          </a:solidFill>
          <a:ln/>
        </p:spPr>
      </p:sp>
      <p:sp>
        <p:nvSpPr>
          <p:cNvPr id="19" name="Text 17"/>
          <p:cNvSpPr/>
          <p:nvPr/>
        </p:nvSpPr>
        <p:spPr>
          <a:xfrm>
            <a:off x="6364224" y="263347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Agent crew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144768" y="30358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reason · guard · craft · act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44768" y="352044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A6E2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&amp; NBA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5FE0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Guardrail &amp; Consent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F7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Personalization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6B5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&amp; Execution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577072" y="365760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6A7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8942832" y="2468880"/>
            <a:ext cx="2807208" cy="274320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180576" y="2724912"/>
            <a:ext cx="128016" cy="128016"/>
          </a:xfrm>
          <a:prstGeom prst="ellipse">
            <a:avLst/>
          </a:prstGeom>
          <a:solidFill>
            <a:srgbClr val="9AA3B5"/>
          </a:solidFill>
          <a:ln/>
        </p:spPr>
      </p:sp>
      <p:sp>
        <p:nvSpPr>
          <p:cNvPr id="25" name="Text 23"/>
          <p:cNvSpPr/>
          <p:nvPr/>
        </p:nvSpPr>
        <p:spPr>
          <a:xfrm>
            <a:off x="9400032" y="263347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Reach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9180576" y="3035808"/>
            <a:ext cx="2350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delivery → customer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180576" y="3520440"/>
            <a:ext cx="23957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YONO · WhatsApp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· SMS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EEF1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the customer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5321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0B0F17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32688" y="553212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D6C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↻  Learning loop:  </a:t>
            </a:r>
            <a:pPr indent="0" marL="0">
              <a:buNone/>
            </a:pPr>
            <a:r>
              <a:rPr lang="en-US" sz="13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outcome — converted, ignored or opted-out — retunes timing, channel and offer per customer.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66928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SBI SAARTHI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795967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589788" y="589788"/>
            <a:ext cx="137160" cy="137160"/>
          </a:xfrm>
          <a:prstGeom prst="rect">
            <a:avLst/>
          </a:prstGeom>
          <a:solidFill>
            <a:srgbClr val="F6B5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754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 — WHY AGENTIC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Not a chatbot. A crew that </a:t>
            </a:r>
            <a:pPr algn="l" indent="0" marL="0">
              <a:buNone/>
            </a:pPr>
            <a:r>
              <a:rPr lang="en-US" sz="41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acts.</a:t>
            </a:r>
            <a:endParaRPr lang="en-US" sz="4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77440"/>
          <a:ext cx="11055096" cy="914400"/>
        </p:xfrm>
        <a:graphic>
          <a:graphicData uri="http://schemas.openxmlformats.org/drawingml/2006/table">
            <a:tbl>
              <a:tblPr/>
              <a:tblGrid>
                <a:gridCol w="5522976"/>
                <a:gridCol w="55321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99A2B4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CHATBOT  /  BROADCAST</a:t>
                      </a:r>
                      <a:endParaRPr lang="en-US" sz="12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6B53D"/>
                          </a:solidFill>
                          <a:latin typeface="Cascadia Mono" pitchFamily="34" charset="0"/>
                          <a:ea typeface="Cascadia Mono" pitchFamily="34" charset="-122"/>
                          <a:cs typeface="Cascadia Mono" pitchFamily="34" charset="-120"/>
                        </a:rPr>
                        <a:t>SAARTHI  —  AGENTIC</a:t>
                      </a:r>
                      <a:endParaRPr lang="en-US" sz="1200" dirty="0">
                        <a:latin typeface="Cascadia Mono" charset="0"/>
                        <a:ea typeface="Cascadia Mono" charset="0"/>
                        <a:cs typeface="Cascadia Mon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E0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99A2B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Waits for you to open the app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EF1F6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Reaches you at the money-moment</a:t>
                      </a:r>
                      <a:endParaRPr lang="en-US" sz="15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99A2B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Generic blast to everyone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EF1F6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Personalised to one customer</a:t>
                      </a:r>
                      <a:endParaRPr lang="en-US" sz="15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99A2B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Gives advice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EF1F6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Completes the action end-to-end</a:t>
                      </a:r>
                      <a:endParaRPr lang="en-US" sz="15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99A2B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scripted flow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EF1F6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 crew of specialised agents</a:t>
                      </a:r>
                      <a:endParaRPr lang="en-US" sz="15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99A2B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memory of you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EF1F6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Learns from every outcome</a:t>
                      </a:r>
                      <a:endParaRPr lang="en-US" sz="15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08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SBI SAARTHI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9795967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589788" y="589788"/>
            <a:ext cx="137160" cy="137160"/>
          </a:xfrm>
          <a:prstGeom prst="rect">
            <a:avLst/>
          </a:prstGeom>
          <a:solidFill>
            <a:srgbClr val="F6B5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754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06 — IN ACTION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Five money-moments, </a:t>
            </a:r>
            <a:pPr algn="l" indent="0" marL="0">
              <a:buNone/>
            </a:pPr>
            <a:r>
              <a:rPr lang="en-US" sz="41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handled end-to-end.</a:t>
            </a:r>
            <a:endParaRPr lang="en-US" sz="410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2006194" cy="3017520"/>
          </a:xfrm>
          <a:prstGeom prst="roundRect">
            <a:avLst>
              <a:gd name="adj" fmla="val 4102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606040"/>
            <a:ext cx="137160" cy="137160"/>
          </a:xfrm>
          <a:prstGeom prst="ellipse">
            <a:avLst/>
          </a:prstGeom>
          <a:solidFill>
            <a:srgbClr val="F6B53D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843784"/>
            <a:ext cx="1594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Idle money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6384" y="3465576"/>
            <a:ext cx="16221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₹85k idle · 40 days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86384" y="4160520"/>
            <a:ext cx="16221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₹50,000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786384" y="4764024"/>
            <a:ext cx="1622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Sweep-FD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829154" y="2331720"/>
            <a:ext cx="2006194" cy="3017520"/>
          </a:xfrm>
          <a:prstGeom prst="roundRect">
            <a:avLst>
              <a:gd name="adj" fmla="val 4102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66898" y="2606040"/>
            <a:ext cx="137160" cy="137160"/>
          </a:xfrm>
          <a:prstGeom prst="ellipse">
            <a:avLst/>
          </a:prstGeom>
          <a:solidFill>
            <a:srgbClr val="37D6C3"/>
          </a:solidFill>
          <a:ln/>
        </p:spPr>
      </p:sp>
      <p:sp>
        <p:nvSpPr>
          <p:cNvPr id="13" name="Text 11"/>
          <p:cNvSpPr/>
          <p:nvPr/>
        </p:nvSpPr>
        <p:spPr>
          <a:xfrm>
            <a:off x="3048610" y="2843784"/>
            <a:ext cx="1594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EMI shield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048610" y="3465576"/>
            <a:ext cx="16221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EMI due · salary late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048610" y="4160520"/>
            <a:ext cx="16221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37D6C3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Bounce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3048610" y="4764024"/>
            <a:ext cx="1622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prevented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91379" y="2331720"/>
            <a:ext cx="2006194" cy="3017520"/>
          </a:xfrm>
          <a:prstGeom prst="roundRect">
            <a:avLst>
              <a:gd name="adj" fmla="val 4102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29123" y="2606040"/>
            <a:ext cx="137160" cy="137160"/>
          </a:xfrm>
          <a:prstGeom prst="ellipse">
            <a:avLst/>
          </a:prstGeom>
          <a:solidFill>
            <a:srgbClr val="6E8BFF"/>
          </a:solidFill>
          <a:ln/>
        </p:spPr>
      </p:sp>
      <p:sp>
        <p:nvSpPr>
          <p:cNvPr id="19" name="Text 17"/>
          <p:cNvSpPr/>
          <p:nvPr/>
        </p:nvSpPr>
        <p:spPr>
          <a:xfrm>
            <a:off x="5310835" y="2843784"/>
            <a:ext cx="1594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Dormant revival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310835" y="3465576"/>
            <a:ext cx="16221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Silent · 9 months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310835" y="4160520"/>
            <a:ext cx="16221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E8B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Revived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5310835" y="4764024"/>
            <a:ext cx="1622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Tamil voice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53605" y="2331720"/>
            <a:ext cx="2006194" cy="3017520"/>
          </a:xfrm>
          <a:prstGeom prst="roundRect">
            <a:avLst>
              <a:gd name="adj" fmla="val 4102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591349" y="2606040"/>
            <a:ext cx="137160" cy="137160"/>
          </a:xfrm>
          <a:prstGeom prst="ellipse">
            <a:avLst/>
          </a:prstGeom>
          <a:solidFill>
            <a:srgbClr val="A6E22E"/>
          </a:solidFill>
          <a:ln/>
        </p:spPr>
      </p:sp>
      <p:sp>
        <p:nvSpPr>
          <p:cNvPr id="25" name="Text 23"/>
          <p:cNvSpPr/>
          <p:nvPr/>
        </p:nvSpPr>
        <p:spPr>
          <a:xfrm>
            <a:off x="7573061" y="2843784"/>
            <a:ext cx="1594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Tax saver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573061" y="3465576"/>
            <a:ext cx="16221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FY-end · 80C empty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573061" y="4160520"/>
            <a:ext cx="16221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A6E22E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₹46,800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7573061" y="4764024"/>
            <a:ext cx="1622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tax saved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615830" y="2331720"/>
            <a:ext cx="2006194" cy="3017520"/>
          </a:xfrm>
          <a:prstGeom prst="roundRect">
            <a:avLst>
              <a:gd name="adj" fmla="val 4102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853574" y="2606040"/>
            <a:ext cx="137160" cy="137160"/>
          </a:xfrm>
          <a:prstGeom prst="ellipse">
            <a:avLst/>
          </a:prstGeom>
          <a:solidFill>
            <a:srgbClr val="FF7A8A"/>
          </a:solidFill>
          <a:ln/>
        </p:spPr>
      </p:sp>
      <p:sp>
        <p:nvSpPr>
          <p:cNvPr id="31" name="Text 29"/>
          <p:cNvSpPr/>
          <p:nvPr/>
        </p:nvSpPr>
        <p:spPr>
          <a:xfrm>
            <a:off x="9835286" y="2843784"/>
            <a:ext cx="1594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Scam shield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835286" y="3465576"/>
            <a:ext cx="16221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Risky transfer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835286" y="4160520"/>
            <a:ext cx="16221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F7A8A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₹40,000</a:t>
            </a:r>
            <a:endParaRPr lang="en-US" sz="2500" dirty="0"/>
          </a:p>
        </p:txBody>
      </p:sp>
      <p:sp>
        <p:nvSpPr>
          <p:cNvPr id="34" name="Text 32"/>
          <p:cNvSpPr/>
          <p:nvPr/>
        </p:nvSpPr>
        <p:spPr>
          <a:xfrm>
            <a:off x="9835286" y="4764024"/>
            <a:ext cx="1622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saved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577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runs the full sense → reason → guard → personalise → act → learn trace, in English / हिंदी / தமிழ்.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66928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SBI SAARTHI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795967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589788" y="589788"/>
            <a:ext cx="137160" cy="137160"/>
          </a:xfrm>
          <a:prstGeom prst="rect">
            <a:avLst/>
          </a:prstGeom>
          <a:solidFill>
            <a:srgbClr val="F6B5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754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07 — BHARAT-FIRST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Built for Bharat. </a:t>
            </a:r>
            <a:pPr algn="l" indent="0" marL="0">
              <a:buNone/>
            </a:pPr>
            <a:r>
              <a:rPr lang="en-US" sz="41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22 languages. Voice-first.</a:t>
            </a:r>
            <a:endParaRPr lang="en-US" sz="41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6766560" cy="1078992"/>
          </a:xfrm>
          <a:prstGeom prst="roundRect">
            <a:avLst>
              <a:gd name="adj" fmla="val 7627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670048"/>
            <a:ext cx="493776" cy="493776"/>
          </a:xfrm>
          <a:prstGeom prst="ellipse">
            <a:avLst/>
          </a:prstGeom>
          <a:solidFill>
            <a:srgbClr val="2A1E08"/>
          </a:solidFill>
          <a:ln w="12700">
            <a:solidFill>
              <a:srgbClr val="F6B5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670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B5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81328" y="2487168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EF1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“₹85,000 has been idle for 40 days. Move ₹50,000 into a 7.1% Sweep-FD?”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3621024"/>
            <a:ext cx="6766560" cy="1078992"/>
          </a:xfrm>
          <a:prstGeom prst="roundRect">
            <a:avLst>
              <a:gd name="adj" fmla="val 7627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4672" y="3913632"/>
            <a:ext cx="493776" cy="493776"/>
          </a:xfrm>
          <a:prstGeom prst="ellipse">
            <a:avLst/>
          </a:prstGeom>
          <a:solidFill>
            <a:srgbClr val="2A1E08"/>
          </a:solidFill>
          <a:ln w="12700">
            <a:solidFill>
              <a:srgbClr val="F6B5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9136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B53D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हिं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81328" y="3730752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EF1F6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“₹85,000 पिछले 40 दिनों से बिना उपयोग पड़े हैं। ₹50,000 को 7.1% स्वीप-FD में लगाऊँ?”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4864608"/>
            <a:ext cx="6766560" cy="1078992"/>
          </a:xfrm>
          <a:prstGeom prst="roundRect">
            <a:avLst>
              <a:gd name="adj" fmla="val 7627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" y="5157216"/>
            <a:ext cx="493776" cy="493776"/>
          </a:xfrm>
          <a:prstGeom prst="ellipse">
            <a:avLst/>
          </a:prstGeom>
          <a:solidFill>
            <a:srgbClr val="2A1E08"/>
          </a:solidFill>
          <a:ln w="12700">
            <a:solidFill>
              <a:srgbClr val="F6B5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572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B53D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த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81328" y="4974336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EF1F6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“₹85,000 கடந்த 40 நாட்களாக பயன்படுத்தப்படவில்லை. ₹50,000-ஐ 7.1% ஸ்வீப்-FD-யில் மாற்றட்டுமா?”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818120" y="2377440"/>
            <a:ext cx="3803904" cy="3931920"/>
          </a:xfrm>
          <a:prstGeom prst="roundRect">
            <a:avLst>
              <a:gd name="adj" fmla="val 2163"/>
            </a:avLst>
          </a:prstGeom>
          <a:solidFill>
            <a:srgbClr val="0B0F17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183880" y="2651760"/>
            <a:ext cx="30723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22</a:t>
            </a:r>
            <a:endParaRPr lang="en-US" sz="8400" dirty="0"/>
          </a:p>
        </p:txBody>
      </p:sp>
      <p:sp>
        <p:nvSpPr>
          <p:cNvPr id="19" name="Text 17"/>
          <p:cNvSpPr/>
          <p:nvPr/>
        </p:nvSpPr>
        <p:spPr>
          <a:xfrm>
            <a:off x="8202168" y="384048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Indian languages — text &amp; voice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02168" y="4343400"/>
            <a:ext cx="3072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37D6C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400M+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reachable who will never use an English app.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02168" y="5440680"/>
            <a:ext cx="3072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Powered by AI4Bharat / Bhashini &amp; Sarvam ASR–TTS.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SBI SAARTHI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795967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589788" y="589788"/>
            <a:ext cx="137160" cy="137160"/>
          </a:xfrm>
          <a:prstGeom prst="rect">
            <a:avLst/>
          </a:prstGeom>
          <a:solidFill>
            <a:srgbClr val="F6B5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754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08 — SYSTEM DESIGN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The platform we’ll </a:t>
            </a:r>
            <a:pPr algn="l" indent="0" marL="0">
              <a:buNone/>
            </a:pPr>
            <a:r>
              <a:rPr lang="en-US" sz="41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build.</a:t>
            </a:r>
            <a:endParaRPr lang="en-US" sz="4100" dirty="0"/>
          </a:p>
        </p:txBody>
      </p:sp>
      <p:sp>
        <p:nvSpPr>
          <p:cNvPr id="5" name="Text 3"/>
          <p:cNvSpPr/>
          <p:nvPr/>
        </p:nvSpPr>
        <p:spPr>
          <a:xfrm>
            <a:off x="566928" y="22128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CHANNELS · EDGE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2487168"/>
            <a:ext cx="2130552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87168"/>
            <a:ext cx="1984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D6C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YONO app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25496" y="2487168"/>
            <a:ext cx="2130552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98648" y="2487168"/>
            <a:ext cx="1984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D6C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WhatsApp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84064" y="2487168"/>
            <a:ext cx="2130552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57216" y="2487168"/>
            <a:ext cx="1984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D6C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Voice / IVR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42632" y="2487168"/>
            <a:ext cx="2130552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15784" y="2487168"/>
            <a:ext cx="1984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D6C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SMS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6928" y="307238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AGENT ORCHESTRATION RUNTIME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93776" y="3328416"/>
            <a:ext cx="9052560" cy="566928"/>
          </a:xfrm>
          <a:prstGeom prst="roundRect">
            <a:avLst>
              <a:gd name="adj" fmla="val 9677"/>
            </a:avLst>
          </a:prstGeom>
          <a:solidFill>
            <a:srgbClr val="F6B53D">
              <a:alpha val="7000"/>
            </a:srgbClr>
          </a:solidFill>
          <a:ln w="12700">
            <a:solidFill>
              <a:srgbClr val="F6B53D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346704"/>
            <a:ext cx="1678838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346704"/>
            <a:ext cx="153253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Orchestrator · LangGraph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373782" y="3346704"/>
            <a:ext cx="1678838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46934" y="3346704"/>
            <a:ext cx="153253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6E22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Agent crew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180637" y="3346704"/>
            <a:ext cx="1678838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53789" y="3346704"/>
            <a:ext cx="153253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8B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Tool router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87491" y="3346704"/>
            <a:ext cx="1678838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60643" y="3346704"/>
            <a:ext cx="153253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D6C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Memory mgr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794346" y="3346704"/>
            <a:ext cx="1678838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67498" y="3346704"/>
            <a:ext cx="153253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E0A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Guardrails · OPA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66928" y="40416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MODELS &amp; INTEGRATIONS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66928" y="4315968"/>
            <a:ext cx="1377696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315968"/>
            <a:ext cx="1231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Claude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072640" y="4315968"/>
            <a:ext cx="1377696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45792" y="4315968"/>
            <a:ext cx="1231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6E22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Fine-tuned SLMs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578352" y="4315968"/>
            <a:ext cx="1377696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1504" y="4315968"/>
            <a:ext cx="1231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7A8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Bhashini / Sarvam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84064" y="4315968"/>
            <a:ext cx="1377696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57216" y="4315968"/>
            <a:ext cx="1231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Core-banking API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589776" y="4315968"/>
            <a:ext cx="1377696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62928" y="4315968"/>
            <a:ext cx="1231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Account Aggregator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095488" y="4315968"/>
            <a:ext cx="1377696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68640" y="4315968"/>
            <a:ext cx="1231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Payments · CRM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66928" y="490118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DATA &amp; EVENT PLANE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66928" y="5175504"/>
            <a:ext cx="2130552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5175504"/>
            <a:ext cx="1984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Kafka · CDC stream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825496" y="5175504"/>
            <a:ext cx="2130552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98648" y="5175504"/>
            <a:ext cx="1984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Feast feature store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084064" y="5175504"/>
            <a:ext cx="2130552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57216" y="5175504"/>
            <a:ext cx="1984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Postgres + pgvector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42632" y="5175504"/>
            <a:ext cx="2130552" cy="530352"/>
          </a:xfrm>
          <a:prstGeom prst="roundRect">
            <a:avLst>
              <a:gd name="adj" fmla="val 8621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15784" y="5175504"/>
            <a:ext cx="1984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Data lake · offline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9601200" y="2212848"/>
            <a:ext cx="2020824" cy="1828800"/>
          </a:xfrm>
          <a:prstGeom prst="roundRect">
            <a:avLst>
              <a:gd name="adj" fmla="val 4500"/>
            </a:avLst>
          </a:prstGeom>
          <a:solidFill>
            <a:srgbClr val="0E1420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9784080" y="2340864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7D6C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OBSERVABILITY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784080" y="265176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LangSmith traces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OpenTelemetry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agent evals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cost &amp; latency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601200" y="4133088"/>
            <a:ext cx="2020824" cy="1682496"/>
          </a:xfrm>
          <a:prstGeom prst="roundRect">
            <a:avLst>
              <a:gd name="adj" fmla="val 4891"/>
            </a:avLst>
          </a:prstGeom>
          <a:solidFill>
            <a:srgbClr val="0E1420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784080" y="4261104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FE0A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SECURITY · CONSENT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9784080" y="45720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AA consent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Vault · KMS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PII redaction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audit trail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66928" y="577900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Event-driven · API-first · cloud-native on Kubernetes. Cost-tiered inference routes ~90% routine actions to small models; Claude handles complex reasoning.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SBI SAARTHI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9795967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589788" y="589788"/>
            <a:ext cx="137160" cy="137160"/>
          </a:xfrm>
          <a:prstGeom prst="rect">
            <a:avLst/>
          </a:prstGeom>
          <a:solidFill>
            <a:srgbClr val="F6B5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754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09 — AGENT RUNTIME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How one </a:t>
            </a:r>
            <a:pPr algn="l" indent="0" marL="0">
              <a:buNone/>
            </a:pPr>
            <a:r>
              <a:rPr lang="en-US" sz="41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agent turn</a:t>
            </a:r>
            <a:pPr algn="l" indent="0" marL="0">
              <a:buNone/>
            </a:pPr>
            <a:r>
              <a:rPr lang="en-US" sz="4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 executes.</a:t>
            </a:r>
            <a:endParaRPr lang="en-US" sz="4100" dirty="0"/>
          </a:p>
        </p:txBody>
      </p:sp>
      <p:sp>
        <p:nvSpPr>
          <p:cNvPr id="5" name="Shape 3"/>
          <p:cNvSpPr/>
          <p:nvPr/>
        </p:nvSpPr>
        <p:spPr>
          <a:xfrm>
            <a:off x="749808" y="2788920"/>
            <a:ext cx="10689336" cy="0"/>
          </a:xfrm>
          <a:prstGeom prst="line">
            <a:avLst/>
          </a:prstGeom>
          <a:noFill/>
          <a:ln w="19050">
            <a:solidFill>
              <a:srgbClr val="2632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331720"/>
            <a:ext cx="1285875" cy="914400"/>
          </a:xfrm>
          <a:prstGeom prst="roundRect">
            <a:avLst>
              <a:gd name="adj" fmla="val 9000"/>
            </a:avLst>
          </a:prstGeom>
          <a:solidFill>
            <a:srgbClr val="0E1420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13232" y="2478024"/>
            <a:ext cx="10115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76656" y="2807208"/>
            <a:ext cx="11029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EF1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Trigger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962531" y="2331720"/>
            <a:ext cx="1285875" cy="914400"/>
          </a:xfrm>
          <a:prstGeom prst="roundRect">
            <a:avLst>
              <a:gd name="adj" fmla="val 9000"/>
            </a:avLst>
          </a:prstGeom>
          <a:solidFill>
            <a:srgbClr val="0E1420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8835" y="2478024"/>
            <a:ext cx="10115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072259" y="2807208"/>
            <a:ext cx="11029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EF1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Perceive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58134" y="2331720"/>
            <a:ext cx="1285875" cy="914400"/>
          </a:xfrm>
          <a:prstGeom prst="roundRect">
            <a:avLst>
              <a:gd name="adj" fmla="val 9000"/>
            </a:avLst>
          </a:prstGeom>
          <a:solidFill>
            <a:srgbClr val="0E1420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504438" y="2478024"/>
            <a:ext cx="10115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67862" y="2807208"/>
            <a:ext cx="11029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EF1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53737" y="2331720"/>
            <a:ext cx="1285875" cy="914400"/>
          </a:xfrm>
          <a:prstGeom prst="roundRect">
            <a:avLst>
              <a:gd name="adj" fmla="val 9000"/>
            </a:avLst>
          </a:prstGeom>
          <a:solidFill>
            <a:srgbClr val="0E1420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00041" y="2478024"/>
            <a:ext cx="10115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63465" y="2807208"/>
            <a:ext cx="11029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EF1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Reason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49340" y="2331720"/>
            <a:ext cx="1285875" cy="914400"/>
          </a:xfrm>
          <a:prstGeom prst="roundRect">
            <a:avLst>
              <a:gd name="adj" fmla="val 9000"/>
            </a:avLst>
          </a:prstGeom>
          <a:solidFill>
            <a:srgbClr val="0E1420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295644" y="2478024"/>
            <a:ext cx="10115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59068" y="2807208"/>
            <a:ext cx="11029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EF1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544943" y="2331720"/>
            <a:ext cx="1285875" cy="914400"/>
          </a:xfrm>
          <a:prstGeom prst="roundRect">
            <a:avLst>
              <a:gd name="adj" fmla="val 9000"/>
            </a:avLst>
          </a:prstGeom>
          <a:solidFill>
            <a:srgbClr val="0E1420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91247" y="2478024"/>
            <a:ext cx="10115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654671" y="2807208"/>
            <a:ext cx="11029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EF1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Personalise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940546" y="2331720"/>
            <a:ext cx="1285875" cy="914400"/>
          </a:xfrm>
          <a:prstGeom prst="roundRect">
            <a:avLst>
              <a:gd name="adj" fmla="val 9000"/>
            </a:avLst>
          </a:prstGeom>
          <a:solidFill>
            <a:srgbClr val="0E1420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086850" y="2478024"/>
            <a:ext cx="10115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07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50274" y="2807208"/>
            <a:ext cx="11029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EF1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0336149" y="2331720"/>
            <a:ext cx="1285875" cy="914400"/>
          </a:xfrm>
          <a:prstGeom prst="roundRect">
            <a:avLst>
              <a:gd name="adj" fmla="val 9000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482453" y="2478024"/>
            <a:ext cx="10115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D6C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08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445877" y="2807208"/>
            <a:ext cx="11029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EF1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341071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7D6C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↻  memory write + reward signal feed the next turn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6928" y="3886200"/>
            <a:ext cx="3502152" cy="2103120"/>
          </a:xfrm>
          <a:prstGeom prst="roundRect">
            <a:avLst>
              <a:gd name="adj" fmla="val 3913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22960" y="4160520"/>
            <a:ext cx="146304" cy="146304"/>
          </a:xfrm>
          <a:prstGeom prst="ellipse">
            <a:avLst/>
          </a:prstGeom>
          <a:solidFill>
            <a:srgbClr val="37D6C3"/>
          </a:solidFill>
          <a:ln/>
        </p:spPr>
      </p:sp>
      <p:sp>
        <p:nvSpPr>
          <p:cNvPr id="33" name="Text 31"/>
          <p:cNvSpPr/>
          <p:nvPr/>
        </p:nvSpPr>
        <p:spPr>
          <a:xfrm>
            <a:off x="1042416" y="406908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LangGraph runtime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41248" y="4599432"/>
            <a:ext cx="2999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stateful graph + typed nodes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durable checkpoints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human-in-the-loop gates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retries + replayable traces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343400" y="3886200"/>
            <a:ext cx="3502152" cy="2103120"/>
          </a:xfrm>
          <a:prstGeom prst="roundRect">
            <a:avLst>
              <a:gd name="adj" fmla="val 3913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599432" y="4160520"/>
            <a:ext cx="146304" cy="146304"/>
          </a:xfrm>
          <a:prstGeom prst="ellipse">
            <a:avLst/>
          </a:prstGeom>
          <a:solidFill>
            <a:srgbClr val="F6B53D"/>
          </a:solidFill>
          <a:ln/>
        </p:spPr>
      </p:sp>
      <p:sp>
        <p:nvSpPr>
          <p:cNvPr id="37" name="Text 35"/>
          <p:cNvSpPr/>
          <p:nvPr/>
        </p:nvSpPr>
        <p:spPr>
          <a:xfrm>
            <a:off x="4818888" y="406908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Tools (consent-gated)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4617720" y="4599432"/>
            <a:ext cx="2999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open / break a Sweep-FD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start an ELSS SIP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shift EMI due-date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reactivate dormant a/c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cancel &amp; report a payment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119872" y="3886200"/>
            <a:ext cx="3502152" cy="2103120"/>
          </a:xfrm>
          <a:prstGeom prst="roundRect">
            <a:avLst>
              <a:gd name="adj" fmla="val 3913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375904" y="4160520"/>
            <a:ext cx="146304" cy="146304"/>
          </a:xfrm>
          <a:prstGeom prst="ellipse">
            <a:avLst/>
          </a:prstGeom>
          <a:solidFill>
            <a:srgbClr val="5FE0A8"/>
          </a:solidFill>
          <a:ln/>
        </p:spPr>
      </p:sp>
      <p:sp>
        <p:nvSpPr>
          <p:cNvPr id="41" name="Text 39"/>
          <p:cNvSpPr/>
          <p:nvPr/>
        </p:nvSpPr>
        <p:spPr>
          <a:xfrm>
            <a:off x="8595360" y="406908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Guardrail policies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394192" y="4599432"/>
            <a:ext cx="2999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consent (AA) + suitability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frequency / spam caps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scam &amp; AML signals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escalate high-risk to human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SBI SAARTHI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795967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589788" y="589788"/>
            <a:ext cx="137160" cy="137160"/>
          </a:xfrm>
          <a:prstGeom prst="rect">
            <a:avLst/>
          </a:prstGeom>
          <a:solidFill>
            <a:srgbClr val="F6B5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754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10 — DATA &amp; MODELS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Data, models &amp; the </a:t>
            </a:r>
            <a:pPr algn="l" indent="0" marL="0">
              <a:buNone/>
            </a:pPr>
            <a:r>
              <a:rPr lang="en-US" sz="41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decision loop.</a:t>
            </a:r>
            <a:endParaRPr lang="en-US" sz="41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502152" cy="3246120"/>
          </a:xfrm>
          <a:prstGeom prst="roundRect">
            <a:avLst>
              <a:gd name="adj" fmla="val 2535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578608"/>
            <a:ext cx="146304" cy="146304"/>
          </a:xfrm>
          <a:prstGeom prst="ellipse">
            <a:avLst/>
          </a:prstGeom>
          <a:solidFill>
            <a:srgbClr val="6E8BFF"/>
          </a:solidFill>
          <a:ln/>
        </p:spPr>
      </p:sp>
      <p:sp>
        <p:nvSpPr>
          <p:cNvPr id="7" name="Text 5"/>
          <p:cNvSpPr/>
          <p:nvPr/>
        </p:nvSpPr>
        <p:spPr>
          <a:xfrm>
            <a:off x="1060704" y="2487168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Data sources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59536" y="3072384"/>
            <a:ext cx="29992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 · CDC stream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balances · standing instructions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AA-consented external accts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credit bureau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&amp; channel telemetry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life-event signals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2286000"/>
            <a:ext cx="3502152" cy="3246120"/>
          </a:xfrm>
          <a:prstGeom prst="roundRect">
            <a:avLst>
              <a:gd name="adj" fmla="val 2535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578608"/>
            <a:ext cx="146304" cy="146304"/>
          </a:xfrm>
          <a:prstGeom prst="ellipse">
            <a:avLst/>
          </a:prstGeom>
          <a:solidFill>
            <a:srgbClr val="F6B53D"/>
          </a:solidFill>
          <a:ln/>
        </p:spPr>
      </p:sp>
      <p:sp>
        <p:nvSpPr>
          <p:cNvPr id="11" name="Text 9"/>
          <p:cNvSpPr/>
          <p:nvPr/>
        </p:nvSpPr>
        <p:spPr>
          <a:xfrm>
            <a:off x="4837176" y="2487168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Models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36008" y="3072384"/>
            <a:ext cx="29992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— plan, reason, tool-use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fine-tuned SLMs — routine NBA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XGBoost — propensity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contextual bandit — time/channel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embeddings + RAG — product/policy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Bhashini/Sarvam — ASR·TTS·MT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19872" y="2286000"/>
            <a:ext cx="3502152" cy="3246120"/>
          </a:xfrm>
          <a:prstGeom prst="roundRect">
            <a:avLst>
              <a:gd name="adj" fmla="val 2535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94192" y="2578608"/>
            <a:ext cx="146304" cy="146304"/>
          </a:xfrm>
          <a:prstGeom prst="ellipse">
            <a:avLst/>
          </a:prstGeom>
          <a:solidFill>
            <a:srgbClr val="37D6C3"/>
          </a:solidFill>
          <a:ln/>
        </p:spPr>
      </p:sp>
      <p:sp>
        <p:nvSpPr>
          <p:cNvPr id="15" name="Text 13"/>
          <p:cNvSpPr/>
          <p:nvPr/>
        </p:nvSpPr>
        <p:spPr>
          <a:xfrm>
            <a:off x="8613648" y="2487168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Decision loop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412480" y="3072384"/>
            <a:ext cx="29992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 served via Feast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NBA scores the opportunity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bandit picks moment + channel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guardrail clears the action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 logged as reward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nightly retrain + online update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5715000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0B0F17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32688" y="57150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6B5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control:  </a:t>
            </a:r>
            <a:pPr indent="0" marL="0">
              <a:buNone/>
            </a:pPr>
            <a:r>
              <a:rPr lang="en-US" sz="12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models handle ~90% of routine next-best-actions at scale; Claude is reserved for complex, high-stakes reasoning.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SBI SAARTHI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795967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589788" y="589788"/>
            <a:ext cx="137160" cy="137160"/>
          </a:xfrm>
          <a:prstGeom prst="rect">
            <a:avLst/>
          </a:prstGeom>
          <a:solidFill>
            <a:srgbClr val="F6B5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754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11 — STACK &amp; DEPLOY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The engineering </a:t>
            </a:r>
            <a:pPr algn="l" indent="0" marL="0">
              <a:buNone/>
            </a:pPr>
            <a:r>
              <a:rPr lang="en-US" sz="41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stack.</a:t>
            </a:r>
            <a:endParaRPr lang="en-US" sz="4100" dirty="0"/>
          </a:p>
        </p:txBody>
      </p:sp>
      <p:sp>
        <p:nvSpPr>
          <p:cNvPr id="5" name="Shape 3"/>
          <p:cNvSpPr/>
          <p:nvPr/>
        </p:nvSpPr>
        <p:spPr>
          <a:xfrm>
            <a:off x="566928" y="2240280"/>
            <a:ext cx="2571750" cy="1371600"/>
          </a:xfrm>
          <a:prstGeom prst="roundRect">
            <a:avLst>
              <a:gd name="adj" fmla="val 6000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514600"/>
            <a:ext cx="128016" cy="128016"/>
          </a:xfrm>
          <a:prstGeom prst="ellipse">
            <a:avLst/>
          </a:prstGeom>
          <a:solidFill>
            <a:srgbClr val="F6B53D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2423160"/>
            <a:ext cx="1931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Agents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04672" y="2880360"/>
            <a:ext cx="2114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LangGraph · CrewAI · Claude · SLMs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94710" y="2240280"/>
            <a:ext cx="2571750" cy="1371600"/>
          </a:xfrm>
          <a:prstGeom prst="roundRect">
            <a:avLst>
              <a:gd name="adj" fmla="val 6000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32454" y="2514600"/>
            <a:ext cx="128016" cy="128016"/>
          </a:xfrm>
          <a:prstGeom prst="ellipse">
            <a:avLst/>
          </a:prstGeom>
          <a:solidFill>
            <a:srgbClr val="A6E22E"/>
          </a:solidFill>
          <a:ln/>
        </p:spPr>
      </p:sp>
      <p:sp>
        <p:nvSpPr>
          <p:cNvPr id="11" name="Text 9"/>
          <p:cNvSpPr/>
          <p:nvPr/>
        </p:nvSpPr>
        <p:spPr>
          <a:xfrm>
            <a:off x="3851910" y="2423160"/>
            <a:ext cx="1931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Model serving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632454" y="2880360"/>
            <a:ext cx="2114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vLLM · API · embeddings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22492" y="2240280"/>
            <a:ext cx="2571750" cy="1371600"/>
          </a:xfrm>
          <a:prstGeom prst="roundRect">
            <a:avLst>
              <a:gd name="adj" fmla="val 6000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60236" y="2514600"/>
            <a:ext cx="128016" cy="128016"/>
          </a:xfrm>
          <a:prstGeom prst="ellipse">
            <a:avLst/>
          </a:prstGeom>
          <a:solidFill>
            <a:srgbClr val="37D6C3"/>
          </a:solidFill>
          <a:ln/>
        </p:spPr>
      </p:sp>
      <p:sp>
        <p:nvSpPr>
          <p:cNvPr id="15" name="Text 13"/>
          <p:cNvSpPr/>
          <p:nvPr/>
        </p:nvSpPr>
        <p:spPr>
          <a:xfrm>
            <a:off x="6679692" y="2423160"/>
            <a:ext cx="1931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Streaming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60236" y="2880360"/>
            <a:ext cx="2114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Kafka · Flink · CDC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50274" y="2240280"/>
            <a:ext cx="2571750" cy="1371600"/>
          </a:xfrm>
          <a:prstGeom prst="roundRect">
            <a:avLst>
              <a:gd name="adj" fmla="val 6000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88018" y="2514600"/>
            <a:ext cx="128016" cy="128016"/>
          </a:xfrm>
          <a:prstGeom prst="ellipse">
            <a:avLst/>
          </a:prstGeom>
          <a:solidFill>
            <a:srgbClr val="6E8BFF"/>
          </a:solidFill>
          <a:ln/>
        </p:spPr>
      </p:sp>
      <p:sp>
        <p:nvSpPr>
          <p:cNvPr id="19" name="Text 17"/>
          <p:cNvSpPr/>
          <p:nvPr/>
        </p:nvSpPr>
        <p:spPr>
          <a:xfrm>
            <a:off x="9507474" y="2423160"/>
            <a:ext cx="1931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Storage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88018" y="2880360"/>
            <a:ext cx="2114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Postgres · pgvector · Feast · lake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3849624"/>
            <a:ext cx="2571750" cy="1371600"/>
          </a:xfrm>
          <a:prstGeom prst="roundRect">
            <a:avLst>
              <a:gd name="adj" fmla="val 6000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4672" y="4123944"/>
            <a:ext cx="128016" cy="128016"/>
          </a:xfrm>
          <a:prstGeom prst="ellipse">
            <a:avLst/>
          </a:prstGeom>
          <a:solidFill>
            <a:srgbClr val="FF7A8A"/>
          </a:solidFill>
          <a:ln/>
        </p:spPr>
      </p:sp>
      <p:sp>
        <p:nvSpPr>
          <p:cNvPr id="23" name="Text 21"/>
          <p:cNvSpPr/>
          <p:nvPr/>
        </p:nvSpPr>
        <p:spPr>
          <a:xfrm>
            <a:off x="1024128" y="4032504"/>
            <a:ext cx="1931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Language &amp; voice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04672" y="4489704"/>
            <a:ext cx="2114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Bhashini · Sarvam · IndicTrans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394710" y="3849624"/>
            <a:ext cx="2571750" cy="1371600"/>
          </a:xfrm>
          <a:prstGeom prst="roundRect">
            <a:avLst>
              <a:gd name="adj" fmla="val 6000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32454" y="4123944"/>
            <a:ext cx="128016" cy="128016"/>
          </a:xfrm>
          <a:prstGeom prst="ellipse">
            <a:avLst/>
          </a:prstGeom>
          <a:solidFill>
            <a:srgbClr val="5FE0A8"/>
          </a:solidFill>
          <a:ln/>
        </p:spPr>
      </p:sp>
      <p:sp>
        <p:nvSpPr>
          <p:cNvPr id="27" name="Text 25"/>
          <p:cNvSpPr/>
          <p:nvPr/>
        </p:nvSpPr>
        <p:spPr>
          <a:xfrm>
            <a:off x="3851910" y="4032504"/>
            <a:ext cx="1931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Backend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3632454" y="4489704"/>
            <a:ext cx="2114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Python · FastAPI · Redis · Celery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22492" y="3849624"/>
            <a:ext cx="2571750" cy="1371600"/>
          </a:xfrm>
          <a:prstGeom prst="roundRect">
            <a:avLst>
              <a:gd name="adj" fmla="val 6000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60236" y="4123944"/>
            <a:ext cx="128016" cy="128016"/>
          </a:xfrm>
          <a:prstGeom prst="ellipse">
            <a:avLst/>
          </a:prstGeom>
          <a:solidFill>
            <a:srgbClr val="37D6C3"/>
          </a:solidFill>
          <a:ln/>
        </p:spPr>
      </p:sp>
      <p:sp>
        <p:nvSpPr>
          <p:cNvPr id="31" name="Text 29"/>
          <p:cNvSpPr/>
          <p:nvPr/>
        </p:nvSpPr>
        <p:spPr>
          <a:xfrm>
            <a:off x="6679692" y="4032504"/>
            <a:ext cx="1931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Channels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60236" y="4489704"/>
            <a:ext cx="2114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YONO · WhatsApp · Voice · SMS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50274" y="3849624"/>
            <a:ext cx="2571750" cy="1371600"/>
          </a:xfrm>
          <a:prstGeom prst="roundRect">
            <a:avLst>
              <a:gd name="adj" fmla="val 6000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88018" y="4123944"/>
            <a:ext cx="128016" cy="128016"/>
          </a:xfrm>
          <a:prstGeom prst="ellipse">
            <a:avLst/>
          </a:prstGeom>
          <a:solidFill>
            <a:srgbClr val="F6B53D"/>
          </a:solidFill>
          <a:ln/>
        </p:spPr>
      </p:sp>
      <p:sp>
        <p:nvSpPr>
          <p:cNvPr id="35" name="Text 33"/>
          <p:cNvSpPr/>
          <p:nvPr/>
        </p:nvSpPr>
        <p:spPr>
          <a:xfrm>
            <a:off x="9507474" y="4032504"/>
            <a:ext cx="1931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Infra &amp; ops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9288018" y="4489704"/>
            <a:ext cx="2114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Docker · Kubernetes · Terraform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6928" y="5458968"/>
            <a:ext cx="11055096" cy="841248"/>
          </a:xfrm>
          <a:prstGeom prst="roundRect">
            <a:avLst>
              <a:gd name="adj" fmla="val 9783"/>
            </a:avLst>
          </a:prstGeom>
          <a:solidFill>
            <a:srgbClr val="0B0F17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932688" y="5596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DEPLOYMENT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932688" y="587044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1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cost-tiered inference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944368" y="587044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1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autoscaling on K8s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956048" y="587044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1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&lt; 2s p95 latency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967728" y="587044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1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data residency · India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979408" y="587044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F1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blue-green releases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66928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SBI SAARTHI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9795967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589788" y="589788"/>
            <a:ext cx="137160" cy="137160"/>
          </a:xfrm>
          <a:prstGeom prst="rect">
            <a:avLst/>
          </a:prstGeom>
          <a:solidFill>
            <a:srgbClr val="F6B5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754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12 — TRUST &amp; SECURITY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Bank-grade </a:t>
            </a:r>
            <a:pPr algn="l" indent="0" marL="0">
              <a:buNone/>
            </a:pPr>
            <a:r>
              <a:rPr lang="en-US" sz="41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trust by design.</a:t>
            </a:r>
            <a:endParaRPr lang="en-US" sz="41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489960" cy="1783080"/>
          </a:xfrm>
          <a:prstGeom prst="roundRect">
            <a:avLst>
              <a:gd name="adj" fmla="val 4615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578608"/>
            <a:ext cx="146304" cy="146304"/>
          </a:xfrm>
          <a:prstGeom prst="ellipse">
            <a:avLst/>
          </a:prstGeom>
          <a:solidFill>
            <a:srgbClr val="5FE0A8"/>
          </a:solidFill>
          <a:ln/>
        </p:spPr>
      </p:sp>
      <p:sp>
        <p:nvSpPr>
          <p:cNvPr id="7" name="Text 5"/>
          <p:cNvSpPr/>
          <p:nvPr/>
        </p:nvSpPr>
        <p:spPr>
          <a:xfrm>
            <a:off x="1060704" y="2487168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Consent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59536" y="3035808"/>
            <a:ext cx="2959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 Aggregator (Sahamati) — tokenised, purpose-limited, revocable.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9496" y="2286000"/>
            <a:ext cx="3489960" cy="1783080"/>
          </a:xfrm>
          <a:prstGeom prst="roundRect">
            <a:avLst>
              <a:gd name="adj" fmla="val 4615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23816" y="2578608"/>
            <a:ext cx="146304" cy="146304"/>
          </a:xfrm>
          <a:prstGeom prst="ellipse">
            <a:avLst/>
          </a:prstGeom>
          <a:solidFill>
            <a:srgbClr val="37D6C3"/>
          </a:solidFill>
          <a:ln/>
        </p:spPr>
      </p:sp>
      <p:sp>
        <p:nvSpPr>
          <p:cNvPr id="11" name="Text 9"/>
          <p:cNvSpPr/>
          <p:nvPr/>
        </p:nvSpPr>
        <p:spPr>
          <a:xfrm>
            <a:off x="4843272" y="2487168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Privacy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42104" y="3035808"/>
            <a:ext cx="2959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DPDP Act 2023 — PII redaction &amp; tokenisation, data minimisation, India residency.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32064" y="2286000"/>
            <a:ext cx="3489960" cy="1783080"/>
          </a:xfrm>
          <a:prstGeom prst="roundRect">
            <a:avLst>
              <a:gd name="adj" fmla="val 4615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06384" y="2578608"/>
            <a:ext cx="146304" cy="146304"/>
          </a:xfrm>
          <a:prstGeom prst="ellipse">
            <a:avLst/>
          </a:prstGeom>
          <a:solidFill>
            <a:srgbClr val="6E8BFF"/>
          </a:solidFill>
          <a:ln/>
        </p:spPr>
      </p:sp>
      <p:sp>
        <p:nvSpPr>
          <p:cNvPr id="15" name="Text 13"/>
          <p:cNvSpPr/>
          <p:nvPr/>
        </p:nvSpPr>
        <p:spPr>
          <a:xfrm>
            <a:off x="8625840" y="2487168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Regulatory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8424672" y="3035808"/>
            <a:ext cx="2959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RBI digital-lending &amp; outsourcing norms; SEBI suitability for any MF advice.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489960" cy="1783080"/>
          </a:xfrm>
          <a:prstGeom prst="roundRect">
            <a:avLst>
              <a:gd name="adj" fmla="val 4615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" y="4617720"/>
            <a:ext cx="146304" cy="146304"/>
          </a:xfrm>
          <a:prstGeom prst="ellipse">
            <a:avLst/>
          </a:prstGeom>
          <a:solidFill>
            <a:srgbClr val="F6B53D"/>
          </a:solidFill>
          <a:ln/>
        </p:spPr>
      </p:sp>
      <p:sp>
        <p:nvSpPr>
          <p:cNvPr id="19" name="Text 17"/>
          <p:cNvSpPr/>
          <p:nvPr/>
        </p:nvSpPr>
        <p:spPr>
          <a:xfrm>
            <a:off x="1060704" y="4526280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AI guardrails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859536" y="5074920"/>
            <a:ext cx="2959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OPA policy engine + LLM-as-judge; suitability, frequency caps, allow/deny actions.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349496" y="4325112"/>
            <a:ext cx="3489960" cy="1783080"/>
          </a:xfrm>
          <a:prstGeom prst="roundRect">
            <a:avLst>
              <a:gd name="adj" fmla="val 4615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3816" y="4617720"/>
            <a:ext cx="146304" cy="146304"/>
          </a:xfrm>
          <a:prstGeom prst="ellipse">
            <a:avLst/>
          </a:prstGeom>
          <a:solidFill>
            <a:srgbClr val="FF7A8A"/>
          </a:solidFill>
          <a:ln/>
        </p:spPr>
      </p:sp>
      <p:sp>
        <p:nvSpPr>
          <p:cNvPr id="23" name="Text 21"/>
          <p:cNvSpPr/>
          <p:nvPr/>
        </p:nvSpPr>
        <p:spPr>
          <a:xfrm>
            <a:off x="4843272" y="4526280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Security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4642104" y="5074920"/>
            <a:ext cx="2959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Encryption in transit &amp; at rest, Vault/HSM secrets, RBAC, prompt-injection defence.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32064" y="4325112"/>
            <a:ext cx="3489960" cy="1783080"/>
          </a:xfrm>
          <a:prstGeom prst="roundRect">
            <a:avLst>
              <a:gd name="adj" fmla="val 4615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06384" y="4617720"/>
            <a:ext cx="146304" cy="146304"/>
          </a:xfrm>
          <a:prstGeom prst="ellipse">
            <a:avLst/>
          </a:prstGeom>
          <a:solidFill>
            <a:srgbClr val="A6E22E"/>
          </a:solidFill>
          <a:ln/>
        </p:spPr>
      </p:sp>
      <p:sp>
        <p:nvSpPr>
          <p:cNvPr id="27" name="Text 25"/>
          <p:cNvSpPr/>
          <p:nvPr/>
        </p:nvSpPr>
        <p:spPr>
          <a:xfrm>
            <a:off x="8625840" y="4526280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Auditability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8424672" y="5074920"/>
            <a:ext cx="2959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Immutable audit trail, full agent trace, explainable decisions, human override.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66928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SBI SAARTHI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795967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589788" y="589788"/>
            <a:ext cx="137160" cy="137160"/>
          </a:xfrm>
          <a:prstGeom prst="rect">
            <a:avLst/>
          </a:prstGeom>
          <a:solidFill>
            <a:srgbClr val="F6B5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754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13 — IMPACT &amp; MODEL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Engagement you can </a:t>
            </a:r>
            <a:pPr algn="l" indent="0" marL="0">
              <a:buNone/>
            </a:pPr>
            <a:r>
              <a:rPr lang="en-US" sz="41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measure.</a:t>
            </a:r>
            <a:endParaRPr lang="en-US" sz="41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2558034" cy="1554480"/>
          </a:xfrm>
          <a:prstGeom prst="roundRect">
            <a:avLst>
              <a:gd name="adj" fmla="val 5294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395728"/>
            <a:ext cx="21008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+34%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3163824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active engagement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9282" y="2286000"/>
            <a:ext cx="2558034" cy="1554480"/>
          </a:xfrm>
          <a:prstGeom prst="roundRect">
            <a:avLst>
              <a:gd name="adj" fmla="val 5294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5314" y="2395728"/>
            <a:ext cx="21008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37D6C3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₹1,240cr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55314" y="3163824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idle funds mobilised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1636" y="2286000"/>
            <a:ext cx="2558034" cy="1554480"/>
          </a:xfrm>
          <a:prstGeom prst="roundRect">
            <a:avLst>
              <a:gd name="adj" fmla="val 5294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87668" y="2395728"/>
            <a:ext cx="21008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6E8BFF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2.1M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487668" y="3163824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dormant accounts revived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63990" y="2286000"/>
            <a:ext cx="2558034" cy="1554480"/>
          </a:xfrm>
          <a:prstGeom prst="roundRect">
            <a:avLst>
              <a:gd name="adj" fmla="val 5294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320022" y="2395728"/>
            <a:ext cx="21008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A6E22E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+18%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320022" y="3163824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cross-sell conversion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6903720" cy="2057400"/>
          </a:xfrm>
          <a:prstGeom prst="roundRect">
            <a:avLst>
              <a:gd name="adj" fmla="val 4000"/>
            </a:avLst>
          </a:prstGeom>
          <a:solidFill>
            <a:srgbClr val="0B0F17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86968" y="4224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FOUR VALUE LEVERS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86968" y="4553712"/>
            <a:ext cx="6355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F1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Incremental product revenue (loans · MF · insurance · deposits)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F1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Idle-fund mobilisation into FDs, sweeps &amp; SIPs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F1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Dormant reactivation &amp; churn defence vs. fintechs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F1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Lower cost-to-serve — automation vs. human RMs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726680" y="4069080"/>
            <a:ext cx="3895344" cy="2057400"/>
          </a:xfrm>
          <a:prstGeom prst="roundRect">
            <a:avLst>
              <a:gd name="adj" fmla="val 4000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28432" y="42245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7D6C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COMMERCIAL POTENTIAL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28432" y="4553712"/>
            <a:ext cx="33101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EEF1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capability over YONO, plus a licensable </a:t>
            </a:r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37D6C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Engagement Platform</a:t>
            </a:r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EEF1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RRBs &amp; co-op banks — per-active-customer or outcome-based pricing.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66928" y="62636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Illustrative projections.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66928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SBI SAARTHI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95967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589788" y="589788"/>
            <a:ext cx="137160" cy="137160"/>
          </a:xfrm>
          <a:prstGeom prst="rect">
            <a:avLst/>
          </a:prstGeom>
          <a:solidFill>
            <a:srgbClr val="F6B5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754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14 — ROADMAP &amp; TEAM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1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From idea to </a:t>
            </a:r>
            <a:pPr algn="l" indent="0" marL="0">
              <a:buNone/>
            </a:pPr>
            <a:r>
              <a:rPr lang="en-US" sz="41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pilot.</a:t>
            </a:r>
            <a:endParaRPr lang="en-US" sz="41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1991563" cy="1554480"/>
          </a:xfrm>
          <a:prstGeom prst="roundRect">
            <a:avLst>
              <a:gd name="adj" fmla="val 5294"/>
            </a:avLst>
          </a:prstGeom>
          <a:solidFill>
            <a:srgbClr val="111824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86384" y="2468880"/>
            <a:ext cx="1625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30 JUN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86384" y="2852928"/>
            <a:ext cx="16258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Round 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6384" y="3273552"/>
            <a:ext cx="16440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idea submission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32811" y="2286000"/>
            <a:ext cx="1991563" cy="1554480"/>
          </a:xfrm>
          <a:prstGeom prst="roundRect">
            <a:avLst>
              <a:gd name="adj" fmla="val 5294"/>
            </a:avLst>
          </a:prstGeom>
          <a:solidFill>
            <a:srgbClr val="0E1420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052267" y="2468880"/>
            <a:ext cx="1625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7D6C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15 JUL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052267" y="2852928"/>
            <a:ext cx="16258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Top 10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052267" y="3273552"/>
            <a:ext cx="16440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shortlist + mentoring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98694" y="2286000"/>
            <a:ext cx="1991563" cy="1554480"/>
          </a:xfrm>
          <a:prstGeom prst="roundRect">
            <a:avLst>
              <a:gd name="adj" fmla="val 5294"/>
            </a:avLst>
          </a:prstGeom>
          <a:solidFill>
            <a:srgbClr val="0E1420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18150" y="2468880"/>
            <a:ext cx="1625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7D6C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JUL–AUG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318150" y="2852928"/>
            <a:ext cx="16258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30-day build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18150" y="3273552"/>
            <a:ext cx="16440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prototype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64578" y="2286000"/>
            <a:ext cx="1991563" cy="1554480"/>
          </a:xfrm>
          <a:prstGeom prst="roundRect">
            <a:avLst>
              <a:gd name="adj" fmla="val 5294"/>
            </a:avLst>
          </a:prstGeom>
          <a:solidFill>
            <a:srgbClr val="0E1420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584034" y="2468880"/>
            <a:ext cx="1625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7D6C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20 AUG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584034" y="2852928"/>
            <a:ext cx="16258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Jury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584034" y="3273552"/>
            <a:ext cx="16440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prototype demo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630461" y="2286000"/>
            <a:ext cx="1991563" cy="1554480"/>
          </a:xfrm>
          <a:prstGeom prst="roundRect">
            <a:avLst>
              <a:gd name="adj" fmla="val 5294"/>
            </a:avLst>
          </a:prstGeom>
          <a:solidFill>
            <a:srgbClr val="0E1420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849917" y="2468880"/>
            <a:ext cx="1625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7D6C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9–11 SEP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849917" y="2852928"/>
            <a:ext cx="16258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GFF finale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849917" y="3273552"/>
            <a:ext cx="16440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Mumbai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4160520"/>
            <a:ext cx="11055096" cy="1965960"/>
          </a:xfrm>
          <a:prstGeom prst="roundRect">
            <a:avLst>
              <a:gd name="adj" fmla="val 4186"/>
            </a:avLst>
          </a:prstGeom>
          <a:solidFill>
            <a:srgbClr val="0B0F17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32688" y="433425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TEAM  SAS CODIES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2688" y="4882896"/>
            <a:ext cx="128016" cy="128016"/>
          </a:xfrm>
          <a:prstGeom prst="ellipse">
            <a:avLst/>
          </a:prstGeom>
          <a:solidFill>
            <a:srgbClr val="F6B53D"/>
          </a:solidFill>
          <a:ln/>
        </p:spPr>
      </p:sp>
      <p:sp>
        <p:nvSpPr>
          <p:cNvPr id="28" name="Text 26"/>
          <p:cNvSpPr/>
          <p:nvPr/>
        </p:nvSpPr>
        <p:spPr>
          <a:xfrm>
            <a:off x="1152144" y="4754880"/>
            <a:ext cx="3041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Saud Satopay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152144" y="5175504"/>
            <a:ext cx="304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50" kern="0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Agents &amp; backend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52144" y="544982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LangGraph orchestrator · agents · banking APIs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468368" y="4882896"/>
            <a:ext cx="128016" cy="128016"/>
          </a:xfrm>
          <a:prstGeom prst="ellipse">
            <a:avLst/>
          </a:prstGeom>
          <a:solidFill>
            <a:srgbClr val="37D6C3"/>
          </a:solidFill>
          <a:ln/>
        </p:spPr>
      </p:sp>
      <p:sp>
        <p:nvSpPr>
          <p:cNvPr id="32" name="Text 30"/>
          <p:cNvSpPr/>
          <p:nvPr/>
        </p:nvSpPr>
        <p:spPr>
          <a:xfrm>
            <a:off x="4687824" y="4754880"/>
            <a:ext cx="3041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Aryan Walunj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4687824" y="5175504"/>
            <a:ext cx="304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50" kern="0" dirty="0">
                <a:solidFill>
                  <a:srgbClr val="37D6C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ML &amp; decisioning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87824" y="544982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NBA models · bandits · data &amp; RAG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004048" y="4882896"/>
            <a:ext cx="128016" cy="128016"/>
          </a:xfrm>
          <a:prstGeom prst="ellipse">
            <a:avLst/>
          </a:prstGeom>
          <a:solidFill>
            <a:srgbClr val="6E8BFF"/>
          </a:solidFill>
          <a:ln/>
        </p:spPr>
      </p:sp>
      <p:sp>
        <p:nvSpPr>
          <p:cNvPr id="36" name="Text 34"/>
          <p:cNvSpPr/>
          <p:nvPr/>
        </p:nvSpPr>
        <p:spPr>
          <a:xfrm>
            <a:off x="8223504" y="4754880"/>
            <a:ext cx="3041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Sahil Addagatla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8223504" y="5175504"/>
            <a:ext cx="304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50" kern="0" dirty="0">
                <a:solidFill>
                  <a:srgbClr val="6E8B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Frontend &amp; vernacular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223504" y="544982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9A2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YONO/WhatsApp UX · voice · i18n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66928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50" kern="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SBI SAARTHI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795967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63040" y="1737360"/>
            <a:ext cx="11887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0" dirty="0">
                <a:solidFill>
                  <a:srgbClr val="0E1521"/>
                </a:solidFill>
                <a:latin typeface="Bahnschrift SemiBold Condensed" pitchFamily="34" charset="0"/>
                <a:ea typeface="Bahnschrift SemiBold Condensed" pitchFamily="34" charset="-122"/>
                <a:cs typeface="Bahnschrift SemiBold Condensed" pitchFamily="34" charset="-120"/>
              </a:rPr>
              <a:t>Saarthi</a:t>
            </a:r>
            <a:endParaRPr lang="en-US" sz="23000" dirty="0"/>
          </a:p>
        </p:txBody>
      </p:sp>
      <p:sp>
        <p:nvSpPr>
          <p:cNvPr id="3" name="Shape 1"/>
          <p:cNvSpPr/>
          <p:nvPr/>
        </p:nvSpPr>
        <p:spPr>
          <a:xfrm>
            <a:off x="7955280" y="-2468880"/>
            <a:ext cx="6400800" cy="6400800"/>
          </a:xfrm>
          <a:prstGeom prst="ellipse">
            <a:avLst/>
          </a:prstGeom>
          <a:solidFill>
            <a:srgbClr val="F6B53D">
              <a:alpha val="9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630936" y="758952"/>
            <a:ext cx="164592" cy="164592"/>
          </a:xfrm>
          <a:prstGeom prst="rect">
            <a:avLst/>
          </a:prstGeom>
          <a:solidFill>
            <a:srgbClr val="F6B53D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67665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9A2B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219456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54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Make every customer feel </a:t>
            </a:r>
            <a:pPr indent="0" marL="0">
              <a:lnSpc>
                <a:spcPct val="104000"/>
              </a:lnSpc>
              <a:buNone/>
            </a:pPr>
            <a:r>
              <a:rPr lang="en-US" sz="5400" dirty="0">
                <a:solidFill>
                  <a:srgbClr val="F6B53D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personally</a:t>
            </a:r>
            <a:pPr indent="0" marL="0">
              <a:lnSpc>
                <a:spcPct val="104000"/>
              </a:lnSpc>
              <a:buNone/>
            </a:pPr>
            <a:r>
              <a:rPr lang="en-US" sz="5400" dirty="0">
                <a:solidFill>
                  <a:srgbClr val="EEF1F6"/>
                </a:solidFill>
                <a:latin typeface="Bahnschrift SemiBold" pitchFamily="34" charset="0"/>
                <a:ea typeface="Bahnschrift SemiBold" pitchFamily="34" charset="-122"/>
                <a:cs typeface="Bahnschrift SemiBold" pitchFamily="34" charset="-120"/>
              </a:rPr>
              <a:t> banked.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566928" y="4617720"/>
            <a:ext cx="11055096" cy="1051560"/>
          </a:xfrm>
          <a:prstGeom prst="roundRect">
            <a:avLst>
              <a:gd name="adj" fmla="val 7826"/>
            </a:avLst>
          </a:prstGeom>
          <a:solidFill>
            <a:srgbClr val="0B0F17"/>
          </a:solidFill>
          <a:ln w="12700">
            <a:solidFill>
              <a:srgbClr val="263244"/>
            </a:solidFill>
            <a:prstDash val="solid"/>
          </a:ln>
          <a:effectLst>
            <a:outerShdw sx="100000" sy="100000" kx="0" ky="0" algn="bl" rotWithShape="0" blurRad="165100" dist="508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78408" y="4617720"/>
            <a:ext cx="1024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B5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LIVE DEMO   </a:t>
            </a:r>
            <a:pPr indent="0" marL="0">
              <a:buNone/>
            </a:pPr>
            <a:r>
              <a:rPr lang="en-US" sz="1300" dirty="0">
                <a:solidFill>
                  <a:srgbClr val="EEF1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saudsatopay.github.io/sbi-saarthi</a:t>
            </a:r>
            <a:pPr indent="0" marL="0">
              <a:buNone/>
            </a:pPr>
            <a:r>
              <a:rPr lang="en-US" sz="1300" b="1" dirty="0">
                <a:solidFill>
                  <a:srgbClr val="37D6C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  GITHUB   </a:t>
            </a:r>
            <a:pPr indent="0" marL="0">
              <a:buNone/>
            </a:pPr>
            <a:r>
              <a:rPr lang="en-US" sz="1300" dirty="0">
                <a:solidFill>
                  <a:srgbClr val="EEF1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github.com/SaudSatopay/sbi-saarthi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SAS CODIES — Saud Satopay · Aryan Walunj · Sahil Addagatla   ·   Concept prototype, not affiliated with State Bank of India.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SBI Saarthi — Agentic AI Engagement Concierge</dc:title>
  <dc:subject>PptxGenJS Presentation</dc:subject>
  <dc:creator>Team SAS CODIES — Saud Satopay, Aryan Walunj, Sahil Addagatla</dc:creator>
  <cp:lastModifiedBy>Team SAS CODIES — Saud Satopay, Aryan Walunj, Sahil Addagatla</cp:lastModifiedBy>
  <cp:revision>1</cp:revision>
  <dcterms:created xsi:type="dcterms:W3CDTF">2026-06-26T10:50:39Z</dcterms:created>
  <dcterms:modified xsi:type="dcterms:W3CDTF">2026-06-26T10:50:39Z</dcterms:modified>
</cp:coreProperties>
</file>