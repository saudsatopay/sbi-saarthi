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182880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F6B53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37D6C3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630936" y="758952"/>
            <a:ext cx="164592" cy="164592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766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HACKATHON  ·  GLOBAL FINTECH FEST 2026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1488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</a:t>
            </a:r>
            <a:pPr algn="l" indent="0" marL="0">
              <a:buNone/>
            </a:pPr>
            <a:r>
              <a:rPr lang="en-US" sz="96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AI Engagement Concierge for every customer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bank, one step ahead.”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52578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394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56327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&amp; Emerging Tech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34256" y="52578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5394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0288" y="56327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Engagement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01584" y="52578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57616" y="5394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57616" y="56327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 CODIES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engagement is broken in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724912"/>
            <a:ext cx="146304" cy="146304"/>
          </a:xfrm>
          <a:prstGeom prst="ellipse">
            <a:avLst/>
          </a:prstGeom>
          <a:solidFill>
            <a:srgbClr val="37D6C3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962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waits for the customer to open the app. Most never do beyond a balance check.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24688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724912"/>
            <a:ext cx="146304" cy="146304"/>
          </a:xfrm>
          <a:prstGeom prst="ellipse">
            <a:avLst/>
          </a:prstGeom>
          <a:solidFill>
            <a:srgbClr val="FF7A8A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962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90872" y="3511296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SMS and push to everyone — notification blindness, low CTR, opt-outs.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22208" y="2724912"/>
            <a:ext cx="146304" cy="146304"/>
          </a:xfrm>
          <a:prstGeom prst="ellipse">
            <a:avLst/>
          </a:prstGeom>
          <a:solidFill>
            <a:srgbClr val="6E8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522208" y="2962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Unactionable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22208" y="3511296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you something, then leaves the work to you. The loop never closes.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5029200"/>
            <a:ext cx="11055096" cy="1097280"/>
          </a:xfrm>
          <a:prstGeom prst="roundRect">
            <a:avLst>
              <a:gd name="adj" fmla="val 8333"/>
            </a:avLst>
          </a:prstGeom>
          <a:solidFill>
            <a:srgbClr val="0B0F17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" y="50292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crore</a:t>
            </a:r>
            <a:pPr indent="0" marL="0">
              <a:buNone/>
            </a:pPr>
            <a:r>
              <a:rPr lang="en-US" sz="20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customers.   A human relationship manager exists for the top  </a:t>
            </a:r>
            <a:pPr indent="0" marL="0">
              <a:buNone/>
            </a:pPr>
            <a:r>
              <a:rPr lang="en-US" sz="200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pPr indent="0" marL="0">
              <a:buNone/>
            </a:pPr>
            <a:r>
              <a:rPr lang="en-US" sz="20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only.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engagement is reaching the </a:t>
            </a:r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customer</a:t>
            </a:r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the </a:t>
            </a:r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moment</a:t>
            </a:r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 their </a:t>
            </a:r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6E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language</a:t>
            </a:r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doing the action </a:t>
            </a:r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requires autonomy, reasoning, tool-use and guardrails — an agent crew, not a chatbot.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Saarthi.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abilities, one crew.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489960" cy="1755648"/>
          </a:xfrm>
          <a:prstGeom prst="roundRect">
            <a:avLst>
              <a:gd name="adj" fmla="val 520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32888"/>
            <a:ext cx="146304" cy="146304"/>
          </a:xfrm>
          <a:prstGeom prst="ellipse">
            <a:avLst/>
          </a:prstGeom>
          <a:solidFill>
            <a:srgbClr val="37D6C3"/>
          </a:solidFill>
          <a:ln/>
        </p:spPr>
      </p:sp>
      <p:sp>
        <p:nvSpPr>
          <p:cNvPr id="7" name="Text 5"/>
          <p:cNvSpPr/>
          <p:nvPr/>
        </p:nvSpPr>
        <p:spPr>
          <a:xfrm>
            <a:off x="3188208" y="24414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770632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3209544"/>
            <a:ext cx="2977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money-moments in real-time event streams.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9496" y="2240280"/>
            <a:ext cx="3489960" cy="1755648"/>
          </a:xfrm>
          <a:prstGeom prst="roundRect">
            <a:avLst>
              <a:gd name="adj" fmla="val 520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3816" y="2532888"/>
            <a:ext cx="146304" cy="146304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70776" y="24414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3816" y="2770632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3816" y="3209544"/>
            <a:ext cx="2977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propensity &amp; next-best-action per customer.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2064" y="2240280"/>
            <a:ext cx="3489960" cy="1755648"/>
          </a:xfrm>
          <a:prstGeom prst="roundRect">
            <a:avLst>
              <a:gd name="adj" fmla="val 520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6384" y="2532888"/>
            <a:ext cx="146304" cy="146304"/>
          </a:xfrm>
          <a:prstGeom prst="ellipse">
            <a:avLst/>
          </a:prstGeom>
          <a:solidFill>
            <a:srgbClr val="FF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753344" y="24414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06384" y="2770632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06384" y="3209544"/>
            <a:ext cx="2977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language, channel and the right moment.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270248"/>
            <a:ext cx="3489960" cy="1755648"/>
          </a:xfrm>
          <a:prstGeom prst="roundRect">
            <a:avLst>
              <a:gd name="adj" fmla="val 520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562856"/>
            <a:ext cx="146304" cy="146304"/>
          </a:xfrm>
          <a:prstGeom prst="ellipse">
            <a:avLst/>
          </a:prstGeom>
          <a:solidFill>
            <a:srgbClr val="F6B53D"/>
          </a:solidFill>
          <a:ln/>
        </p:spPr>
      </p:sp>
      <p:sp>
        <p:nvSpPr>
          <p:cNvPr id="22" name="Text 20"/>
          <p:cNvSpPr/>
          <p:nvPr/>
        </p:nvSpPr>
        <p:spPr>
          <a:xfrm>
            <a:off x="3188208" y="4471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480060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1248" y="5239512"/>
            <a:ext cx="2977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executes the outcome on banking APIs.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9496" y="4270248"/>
            <a:ext cx="3489960" cy="1755648"/>
          </a:xfrm>
          <a:prstGeom prst="roundRect">
            <a:avLst>
              <a:gd name="adj" fmla="val 520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3816" y="4562856"/>
            <a:ext cx="146304" cy="146304"/>
          </a:xfrm>
          <a:prstGeom prst="ellipse">
            <a:avLst/>
          </a:prstGeom>
          <a:solidFill>
            <a:srgbClr val="5FE0A8"/>
          </a:solidFill>
          <a:ln/>
        </p:spPr>
      </p:sp>
      <p:sp>
        <p:nvSpPr>
          <p:cNvPr id="27" name="Text 25"/>
          <p:cNvSpPr/>
          <p:nvPr/>
        </p:nvSpPr>
        <p:spPr>
          <a:xfrm>
            <a:off x="6970776" y="4471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23816" y="480060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23816" y="5239512"/>
            <a:ext cx="2977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Consent, suitability, anti-spam &amp; scam checks.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32064" y="4270248"/>
            <a:ext cx="3489960" cy="1755648"/>
          </a:xfrm>
          <a:prstGeom prst="roundRect">
            <a:avLst>
              <a:gd name="adj" fmla="val 520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06384" y="4562856"/>
            <a:ext cx="146304" cy="146304"/>
          </a:xfrm>
          <a:prstGeom prst="ellipse">
            <a:avLst/>
          </a:prstGeom>
          <a:solidFill>
            <a:srgbClr val="6E8B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753344" y="4471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06384" y="480060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06384" y="5239512"/>
            <a:ext cx="2977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outcome retrains timing and offers.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crew, not a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286000" cy="274320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24912"/>
            <a:ext cx="128016" cy="128016"/>
          </a:xfrm>
          <a:prstGeom prst="ellipse">
            <a:avLst/>
          </a:prstGeom>
          <a:solidFill>
            <a:srgbClr val="9AA3B5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6517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events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352044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· bills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life events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7121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36976" y="2468880"/>
            <a:ext cx="2286000" cy="274320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724912"/>
            <a:ext cx="128016" cy="128016"/>
          </a:xfrm>
          <a:prstGeom prst="ellipse">
            <a:avLst/>
          </a:prstGeom>
          <a:solidFill>
            <a:srgbClr val="37D6C3"/>
          </a:solidFill>
          <a:ln/>
        </p:spPr>
      </p:sp>
      <p:sp>
        <p:nvSpPr>
          <p:cNvPr id="13" name="Text 11"/>
          <p:cNvSpPr/>
          <p:nvPr/>
        </p:nvSpPr>
        <p:spPr>
          <a:xfrm>
            <a:off x="3694176" y="26517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+ Plan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→ orchestrator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Agent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E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· Learning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41264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907024" y="24688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2724912"/>
            <a:ext cx="128016" cy="128016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2651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44768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 · guard · craft · act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44768" y="35204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A6E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&amp; NBA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5F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&amp; Consent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Execution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77072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942832" y="2468880"/>
            <a:ext cx="2807208" cy="2743200"/>
          </a:xfrm>
          <a:prstGeom prst="roundRect">
            <a:avLst>
              <a:gd name="adj" fmla="val 3333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80576" y="2724912"/>
            <a:ext cx="128016" cy="128016"/>
          </a:xfrm>
          <a:prstGeom prst="ellipse">
            <a:avLst/>
          </a:prstGeom>
          <a:solidFill>
            <a:srgbClr val="9AA3B5"/>
          </a:solidFill>
          <a:ln/>
        </p:spPr>
      </p:sp>
      <p:sp>
        <p:nvSpPr>
          <p:cNvPr id="25" name="Text 23"/>
          <p:cNvSpPr/>
          <p:nvPr/>
        </p:nvSpPr>
        <p:spPr>
          <a:xfrm>
            <a:off x="9400032" y="2651760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80576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→ customer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80576" y="3520440"/>
            <a:ext cx="2395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YONO · WhatsApp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· SMS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customer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532120"/>
            <a:ext cx="11055096" cy="603504"/>
          </a:xfrm>
          <a:prstGeom prst="roundRect">
            <a:avLst>
              <a:gd name="adj" fmla="val 15152"/>
            </a:avLst>
          </a:prstGeom>
          <a:solidFill>
            <a:srgbClr val="0B0F17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2688" y="553212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 Learning loop:  </a:t>
            </a:r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outcome — converted, ignored or opted-out — retunes timing, channel and offer per customer.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WHY AGENTIC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chatbot. A crew that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acts.</a:t>
            </a:r>
            <a:endParaRPr lang="en-US" sz="4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55096" cy="914400"/>
        </p:xfrm>
        <a:graphic>
          <a:graphicData uri="http://schemas.openxmlformats.org/drawingml/2006/table">
            <a:tbl>
              <a:tblPr/>
              <a:tblGrid>
                <a:gridCol w="5522976"/>
                <a:gridCol w="55321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93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CHATBOT  /  BROADCAST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B5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SAARTHI  —  AGENTIC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0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Waits for you to open the app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C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Reaches you at the money-moment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blast to everyone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C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Personalised to one customer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Gives advice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C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Completes the action end-to-end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scripted flow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C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crew of specialised agents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memory of you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C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Learns from every outcome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IN 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money-moments,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end-to-end.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006194" cy="3017520"/>
          </a:xfrm>
          <a:prstGeom prst="roundRect">
            <a:avLst>
              <a:gd name="adj" fmla="val 455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06040"/>
            <a:ext cx="137160" cy="137160"/>
          </a:xfrm>
          <a:prstGeom prst="ellipse">
            <a:avLst/>
          </a:prstGeom>
          <a:solidFill>
            <a:srgbClr val="F6B53D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43784"/>
            <a:ext cx="1594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money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3465576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₹85k idle · 40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4206240"/>
            <a:ext cx="1622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₹50,000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86384" y="4764024"/>
            <a:ext cx="1622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Sweep-FD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29154" y="2331720"/>
            <a:ext cx="2006194" cy="3017520"/>
          </a:xfrm>
          <a:prstGeom prst="roundRect">
            <a:avLst>
              <a:gd name="adj" fmla="val 455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6898" y="2606040"/>
            <a:ext cx="137160" cy="137160"/>
          </a:xfrm>
          <a:prstGeom prst="ellipse">
            <a:avLst/>
          </a:prstGeom>
          <a:solidFill>
            <a:srgbClr val="37D6C3"/>
          </a:solidFill>
          <a:ln/>
        </p:spPr>
      </p:sp>
      <p:sp>
        <p:nvSpPr>
          <p:cNvPr id="13" name="Text 11"/>
          <p:cNvSpPr/>
          <p:nvPr/>
        </p:nvSpPr>
        <p:spPr>
          <a:xfrm>
            <a:off x="3048610" y="2843784"/>
            <a:ext cx="1594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 shield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048610" y="3465576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 due · salary late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8610" y="4206240"/>
            <a:ext cx="1622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048610" y="4764024"/>
            <a:ext cx="1622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91379" y="2331720"/>
            <a:ext cx="2006194" cy="3017520"/>
          </a:xfrm>
          <a:prstGeom prst="roundRect">
            <a:avLst>
              <a:gd name="adj" fmla="val 455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29123" y="2606040"/>
            <a:ext cx="137160" cy="137160"/>
          </a:xfrm>
          <a:prstGeom prst="ellipse">
            <a:avLst/>
          </a:prstGeom>
          <a:solidFill>
            <a:srgbClr val="6E8B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10835" y="2843784"/>
            <a:ext cx="1594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revival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10835" y="3465576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 · 9 months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10835" y="4206240"/>
            <a:ext cx="1622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E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Revived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310835" y="4764024"/>
            <a:ext cx="1622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Tamil voice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53605" y="2331720"/>
            <a:ext cx="2006194" cy="3017520"/>
          </a:xfrm>
          <a:prstGeom prst="roundRect">
            <a:avLst>
              <a:gd name="adj" fmla="val 455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91349" y="2606040"/>
            <a:ext cx="137160" cy="137160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25" name="Text 23"/>
          <p:cNvSpPr/>
          <p:nvPr/>
        </p:nvSpPr>
        <p:spPr>
          <a:xfrm>
            <a:off x="7573061" y="2843784"/>
            <a:ext cx="1594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saver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73061" y="3465576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FY-end · 80C empty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73061" y="4206240"/>
            <a:ext cx="1622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6E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₹46,800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573061" y="4764024"/>
            <a:ext cx="1622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saved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15830" y="2331720"/>
            <a:ext cx="2006194" cy="3017520"/>
          </a:xfrm>
          <a:prstGeom prst="roundRect">
            <a:avLst>
              <a:gd name="adj" fmla="val 455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53574" y="2606040"/>
            <a:ext cx="137160" cy="137160"/>
          </a:xfrm>
          <a:prstGeom prst="ellipse">
            <a:avLst/>
          </a:prstGeom>
          <a:solidFill>
            <a:srgbClr val="FF7A8A"/>
          </a:solidFill>
          <a:ln/>
        </p:spPr>
      </p:sp>
      <p:sp>
        <p:nvSpPr>
          <p:cNvPr id="31" name="Text 29"/>
          <p:cNvSpPr/>
          <p:nvPr/>
        </p:nvSpPr>
        <p:spPr>
          <a:xfrm>
            <a:off x="9835286" y="2843784"/>
            <a:ext cx="1594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shield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835286" y="3465576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Risky transfer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35286" y="4206240"/>
            <a:ext cx="1622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₹40,000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9835286" y="4764024"/>
            <a:ext cx="1622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runs the full sense → reason → guard → personalise → act → learn trace, in English / हिंदी / தமிழ்.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BHARAT-FIRST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Bharat.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languages. Voice-first.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6766560" cy="1078992"/>
          </a:xfrm>
          <a:prstGeom prst="roundRect">
            <a:avLst>
              <a:gd name="adj" fmla="val 8475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70048"/>
            <a:ext cx="493776" cy="493776"/>
          </a:xfrm>
          <a:prstGeom prst="ellipse">
            <a:avLst/>
          </a:prstGeom>
          <a:solidFill>
            <a:srgbClr val="2A1E08"/>
          </a:solidFill>
          <a:ln w="12700">
            <a:solidFill>
              <a:srgbClr val="F6B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670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248716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“₹85,000 has been idle for 40 days. Move ₹50,000 into a 7.1% Sweep-FD?”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621024"/>
            <a:ext cx="6766560" cy="1078992"/>
          </a:xfrm>
          <a:prstGeom prst="roundRect">
            <a:avLst>
              <a:gd name="adj" fmla="val 8475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913632"/>
            <a:ext cx="493776" cy="493776"/>
          </a:xfrm>
          <a:prstGeom prst="ellipse">
            <a:avLst/>
          </a:prstGeom>
          <a:solidFill>
            <a:srgbClr val="2A1E08"/>
          </a:solidFill>
          <a:ln w="12700">
            <a:solidFill>
              <a:srgbClr val="F6B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913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5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हिं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373075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CEFF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“₹85,000 पिछले 40 दिनों से बिना उपयोग पड़े हैं। ₹50,000 को 7.1% स्वीप-FD में लगाऊँ?”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766560" cy="1078992"/>
          </a:xfrm>
          <a:prstGeom prst="roundRect">
            <a:avLst>
              <a:gd name="adj" fmla="val 8475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5157216"/>
            <a:ext cx="493776" cy="493776"/>
          </a:xfrm>
          <a:prstGeom prst="ellipse">
            <a:avLst/>
          </a:prstGeom>
          <a:solidFill>
            <a:srgbClr val="2A1E08"/>
          </a:solidFill>
          <a:ln w="12700">
            <a:solidFill>
              <a:srgbClr val="F6B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5157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5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497433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CEFF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“₹85,000 கடந்த 40 நாட்களாக பயன்படுத்தப்படவில்லை. ₹50,000-ஐ 7.1% ஸ்வீப்-FD-யில் மாற்றட்டுமா?”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818120" y="2377440"/>
            <a:ext cx="3803904" cy="3931920"/>
          </a:xfrm>
          <a:prstGeom prst="roundRect">
            <a:avLst>
              <a:gd name="adj" fmla="val 2404"/>
            </a:avLst>
          </a:prstGeom>
          <a:solidFill>
            <a:srgbClr val="0B0F17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2697480"/>
            <a:ext cx="3072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600" dirty="0"/>
          </a:p>
        </p:txBody>
      </p:sp>
      <p:sp>
        <p:nvSpPr>
          <p:cNvPr id="19" name="Text 17"/>
          <p:cNvSpPr/>
          <p:nvPr/>
        </p:nvSpPr>
        <p:spPr>
          <a:xfrm>
            <a:off x="8202168" y="379476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languages — text &amp; voice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02168" y="434340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400M+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reachable who will never use an English app.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02168" y="544068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Powered by AI4Bharat / Bhashini &amp; Sarvam ASR–TTS.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IMPACT &amp;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you can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58034" cy="1554480"/>
          </a:xfrm>
          <a:prstGeom prst="roundRect">
            <a:avLst>
              <a:gd name="adj" fmla="val 5882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32304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engagement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9282" y="2286000"/>
            <a:ext cx="2558034" cy="1554480"/>
          </a:xfrm>
          <a:prstGeom prst="roundRect">
            <a:avLst>
              <a:gd name="adj" fmla="val 5882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5314" y="2432304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₹1,240cr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5314" y="3127248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funds mobilised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1636" y="2286000"/>
            <a:ext cx="2558034" cy="1554480"/>
          </a:xfrm>
          <a:prstGeom prst="roundRect">
            <a:avLst>
              <a:gd name="adj" fmla="val 5882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7668" y="2432304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87668" y="3127248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accounts revived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63990" y="2286000"/>
            <a:ext cx="2558034" cy="1554480"/>
          </a:xfrm>
          <a:prstGeom prst="roundRect">
            <a:avLst>
              <a:gd name="adj" fmla="val 5882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0022" y="2432304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6E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320022" y="3127248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conversion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6903720" cy="2057400"/>
          </a:xfrm>
          <a:prstGeom prst="roundRect">
            <a:avLst>
              <a:gd name="adj" fmla="val 4444"/>
            </a:avLst>
          </a:prstGeom>
          <a:solidFill>
            <a:srgbClr val="0B0F17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VALUE LEVERS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6968" y="4553712"/>
            <a:ext cx="6355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product revenue (loans · MF · insurance · deposits)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Idle-fund mobilisation into FDs, sweeps &amp; SIPs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reactivation &amp; churn defence vs. fintechs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cost-to-serve — automation vs. human RMs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26680" y="4069080"/>
            <a:ext cx="3895344" cy="2057400"/>
          </a:xfrm>
          <a:prstGeom prst="roundRect">
            <a:avLst>
              <a:gd name="adj" fmla="val 4444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28432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 POTENTIAL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553712"/>
            <a:ext cx="3310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capability over YONO, plus a licensable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Engagement Platform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RRBs &amp; co-op banks — per-active-customer or outcome-based pricing.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that makes it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at scale.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89960" cy="1627632"/>
          </a:xfrm>
          <a:prstGeom prst="roundRect">
            <a:avLst>
              <a:gd name="adj" fmla="val 561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96896"/>
            <a:ext cx="146304" cy="146304"/>
          </a:xfrm>
          <a:prstGeom prst="ellipse">
            <a:avLst/>
          </a:prstGeom>
          <a:solidFill>
            <a:srgbClr val="F6B53D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035808"/>
            <a:ext cx="2977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· CrewAI · Claude · fine-tuned SLMs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9496" y="2286000"/>
            <a:ext cx="3489960" cy="1627632"/>
          </a:xfrm>
          <a:prstGeom prst="roundRect">
            <a:avLst>
              <a:gd name="adj" fmla="val 561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3816" y="2596896"/>
            <a:ext cx="146304" cy="146304"/>
          </a:xfrm>
          <a:prstGeom prst="ellipse">
            <a:avLst/>
          </a:prstGeom>
          <a:solidFill>
            <a:srgbClr val="FF7A8A"/>
          </a:solidFill>
          <a:ln/>
        </p:spPr>
      </p:sp>
      <p:sp>
        <p:nvSpPr>
          <p:cNvPr id="11" name="Text 9"/>
          <p:cNvSpPr/>
          <p:nvPr/>
        </p:nvSpPr>
        <p:spPr>
          <a:xfrm>
            <a:off x="4861560" y="2505456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voice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23816" y="3035808"/>
            <a:ext cx="2977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AI4Bharat / Bhashini · Sarvam ASR–TTS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2064" y="2286000"/>
            <a:ext cx="3489960" cy="1627632"/>
          </a:xfrm>
          <a:prstGeom prst="roundRect">
            <a:avLst>
              <a:gd name="adj" fmla="val 561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06384" y="2596896"/>
            <a:ext cx="146304" cy="146304"/>
          </a:xfrm>
          <a:prstGeom prst="ellipse">
            <a:avLst/>
          </a:prstGeom>
          <a:solidFill>
            <a:srgbClr val="A6E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644128" y="2505456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406384" y="3035808"/>
            <a:ext cx="2977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· contextual bandits · Feast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3489960" cy="1627632"/>
          </a:xfrm>
          <a:prstGeom prst="roundRect">
            <a:avLst>
              <a:gd name="adj" fmla="val 561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498848"/>
            <a:ext cx="146304" cy="146304"/>
          </a:xfrm>
          <a:prstGeom prst="ellipse">
            <a:avLst/>
          </a:prstGeom>
          <a:solidFill>
            <a:srgbClr val="37D6C3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4407408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realtime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1248" y="4937760"/>
            <a:ext cx="2977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Kafka · Postgres + pgvector · Redis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9496" y="4187952"/>
            <a:ext cx="3489960" cy="1627632"/>
          </a:xfrm>
          <a:prstGeom prst="roundRect">
            <a:avLst>
              <a:gd name="adj" fmla="val 561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3816" y="4498848"/>
            <a:ext cx="146304" cy="146304"/>
          </a:xfrm>
          <a:prstGeom prst="ellipse">
            <a:avLst/>
          </a:prstGeom>
          <a:solidFill>
            <a:srgbClr val="6E8B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61560" y="4407408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623816" y="4937760"/>
            <a:ext cx="2977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YONO · WhatsApp Business · Voice · SMS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2064" y="4187952"/>
            <a:ext cx="3489960" cy="1627632"/>
          </a:xfrm>
          <a:prstGeom prst="roundRect">
            <a:avLst>
              <a:gd name="adj" fmla="val 561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06384" y="4498848"/>
            <a:ext cx="146304" cy="146304"/>
          </a:xfrm>
          <a:prstGeom prst="ellipse">
            <a:avLst/>
          </a:prstGeom>
          <a:solidFill>
            <a:srgbClr val="5FE0A8"/>
          </a:solidFill>
          <a:ln/>
        </p:spPr>
      </p:sp>
      <p:sp>
        <p:nvSpPr>
          <p:cNvPr id="27" name="Text 25"/>
          <p:cNvSpPr/>
          <p:nvPr/>
        </p:nvSpPr>
        <p:spPr>
          <a:xfrm>
            <a:off x="8644128" y="4407408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consent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406384" y="4937760"/>
            <a:ext cx="2977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Aggregator · OPA · audit trail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signal to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743200"/>
            <a:ext cx="1438221" cy="1920240"/>
          </a:xfrm>
          <a:prstGeom prst="roundRect">
            <a:avLst>
              <a:gd name="adj" fmla="val 6358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944368"/>
            <a:ext cx="107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493008"/>
            <a:ext cx="114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931920"/>
            <a:ext cx="11639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 surfaces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69741" y="2743200"/>
            <a:ext cx="1438221" cy="1920240"/>
          </a:xfrm>
          <a:prstGeom prst="roundRect">
            <a:avLst>
              <a:gd name="adj" fmla="val 6358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52621" y="2944368"/>
            <a:ext cx="107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52621" y="3493008"/>
            <a:ext cx="114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52621" y="3931920"/>
            <a:ext cx="11639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or hold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72553" y="2743200"/>
            <a:ext cx="1438221" cy="1920240"/>
          </a:xfrm>
          <a:prstGeom prst="roundRect">
            <a:avLst>
              <a:gd name="adj" fmla="val 6358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55433" y="2944368"/>
            <a:ext cx="107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55433" y="3493008"/>
            <a:ext cx="114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55433" y="3931920"/>
            <a:ext cx="11639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next-best-action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75366" y="2743200"/>
            <a:ext cx="1438221" cy="1920240"/>
          </a:xfrm>
          <a:prstGeom prst="roundRect">
            <a:avLst>
              <a:gd name="adj" fmla="val 6358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58246" y="2944368"/>
            <a:ext cx="107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58246" y="3493008"/>
            <a:ext cx="114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58246" y="3931920"/>
            <a:ext cx="11639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&amp; safety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78178" y="2743200"/>
            <a:ext cx="1438221" cy="1920240"/>
          </a:xfrm>
          <a:prstGeom prst="roundRect">
            <a:avLst>
              <a:gd name="adj" fmla="val 6358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61058" y="2944368"/>
            <a:ext cx="107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61058" y="3493008"/>
            <a:ext cx="114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61058" y="3931920"/>
            <a:ext cx="11639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· channel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80991" y="2743200"/>
            <a:ext cx="1438221" cy="1920240"/>
          </a:xfrm>
          <a:prstGeom prst="roundRect">
            <a:avLst>
              <a:gd name="adj" fmla="val 6358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63871" y="2944368"/>
            <a:ext cx="107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63871" y="3493008"/>
            <a:ext cx="114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63871" y="3931920"/>
            <a:ext cx="11639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one tap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183803" y="2743200"/>
            <a:ext cx="1438221" cy="1920240"/>
          </a:xfrm>
          <a:prstGeom prst="roundRect">
            <a:avLst>
              <a:gd name="adj" fmla="val 6358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66683" y="2944368"/>
            <a:ext cx="107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366683" y="3493008"/>
            <a:ext cx="114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66683" y="3931920"/>
            <a:ext cx="11639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on result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D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 the loop closes — outcomes feed the Learning Loop and the next decision gets sharper.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89788" y="589788"/>
            <a:ext cx="137160" cy="137160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ROADMAP &amp;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111824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487168"/>
            <a:ext cx="1625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JUN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889504"/>
            <a:ext cx="1625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3346704"/>
            <a:ext cx="16440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submission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2811" y="228600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52267" y="2487168"/>
            <a:ext cx="1625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JUL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52267" y="2889504"/>
            <a:ext cx="1625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52267" y="3346704"/>
            <a:ext cx="16440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 + mentoring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98694" y="228600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18150" y="2487168"/>
            <a:ext cx="1625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JUL–AUG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18150" y="2889504"/>
            <a:ext cx="1625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18150" y="3346704"/>
            <a:ext cx="16440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4578" y="228600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4034" y="2487168"/>
            <a:ext cx="1625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AUG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4034" y="2889504"/>
            <a:ext cx="1625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4034" y="3346704"/>
            <a:ext cx="16440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30461" y="228600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0E1420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49917" y="2487168"/>
            <a:ext cx="1625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9–11 SEP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49917" y="2889504"/>
            <a:ext cx="1625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GFF finale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49917" y="3346704"/>
            <a:ext cx="16440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343400"/>
            <a:ext cx="11055096" cy="1783080"/>
          </a:xfrm>
          <a:prstGeom prst="roundRect">
            <a:avLst>
              <a:gd name="adj" fmla="val 5128"/>
            </a:avLst>
          </a:prstGeom>
          <a:solidFill>
            <a:srgbClr val="0B0F17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 SAS CODIES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4956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89888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&amp; backend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89888" y="524865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orchestrator, agents, APIs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36008" y="4956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93208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data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93208" y="524865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models, bandits, customer-360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9328" y="4956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96528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vernacular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796528" y="524865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YONO/WhatsApp UX, voice demo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32688" y="57972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Members: [ Member 1 ] · [ Member 2 ] · [ Member 3 ]   — add names &amp; organisations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 SAARTHI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182880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046720" y="-2377440"/>
            <a:ext cx="6400800" cy="6400800"/>
          </a:xfrm>
          <a:prstGeom prst="ellipse">
            <a:avLst/>
          </a:prstGeom>
          <a:solidFill>
            <a:srgbClr val="F6B53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30936" y="758952"/>
            <a:ext cx="164592" cy="164592"/>
          </a:xfrm>
          <a:prstGeom prst="rect">
            <a:avLst/>
          </a:prstGeom>
          <a:solidFill>
            <a:srgbClr val="F6B5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766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customer feel </a:t>
            </a:r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6B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personally</a:t>
            </a:r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banked.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11055096" cy="1051560"/>
          </a:xfrm>
          <a:prstGeom prst="roundRect">
            <a:avLst>
              <a:gd name="adj" fmla="val 8696"/>
            </a:avLst>
          </a:prstGeom>
          <a:solidFill>
            <a:srgbClr val="0B0F17"/>
          </a:solidFill>
          <a:ln w="12700">
            <a:solidFill>
              <a:srgbClr val="25304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47091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B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 </a:t>
            </a:r>
            <a:pPr indent="0" marL="0">
              <a:buNone/>
            </a:pPr>
            <a:r>
              <a:rPr lang="en-US" sz="1350" dirty="0">
                <a:solidFill>
                  <a:srgbClr val="EC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saudsatopay.github.io/sbi-saarthi</a:t>
            </a:r>
            <a:pPr indent="0" marL="0">
              <a:buNone/>
            </a:pPr>
            <a:r>
              <a:rPr lang="en-US" sz="1350" b="1" dirty="0">
                <a:solidFill>
                  <a:srgbClr val="37D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GITHUB   </a:t>
            </a:r>
            <a:pPr indent="0" marL="0">
              <a:buNone/>
            </a:pPr>
            <a:r>
              <a:rPr lang="en-US" sz="1350" dirty="0">
                <a:solidFill>
                  <a:srgbClr val="EC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github.com/SaudSatopay/sbi-saarthi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SAS CODIES  ·  SBI Hackathon @ GFF 2026  ·  Concept prototype, not affiliated with State Bank of India.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SBI Saarthi — Agentic AI Engagement Concierge</dc:title>
  <dc:subject>PptxGenJS Presentation</dc:subject>
  <dc:creator>Team SAS CODIES</dc:creator>
  <cp:lastModifiedBy>Team SAS CODIES</cp:lastModifiedBy>
  <cp:revision>1</cp:revision>
  <dcterms:created xsi:type="dcterms:W3CDTF">2026-06-26T10:31:49Z</dcterms:created>
  <dcterms:modified xsi:type="dcterms:W3CDTF">2026-06-26T10:31:49Z</dcterms:modified>
</cp:coreProperties>
</file>